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  <p:sldMasterId id="2147483793" r:id="rId2"/>
    <p:sldMasterId id="2147483794" r:id="rId3"/>
    <p:sldMasterId id="2147483795" r:id="rId4"/>
    <p:sldMasterId id="2147483796" r:id="rId5"/>
    <p:sldMasterId id="2147483797" r:id="rId6"/>
    <p:sldMasterId id="2147483798" r:id="rId7"/>
    <p:sldMasterId id="2147483799" r:id="rId8"/>
    <p:sldMasterId id="2147483800" r:id="rId9"/>
    <p:sldMasterId id="2147483801" r:id="rId10"/>
    <p:sldMasterId id="2147483802" r:id="rId11"/>
  </p:sldMasterIdLst>
  <p:notesMasterIdLst>
    <p:notesMasterId r:id="rId22"/>
  </p:notesMasterIdLst>
  <p:handoutMasterIdLst>
    <p:handoutMasterId r:id="rId23"/>
  </p:handoutMasterIdLst>
  <p:sldIdLst>
    <p:sldId id="7692" r:id="rId12"/>
    <p:sldId id="7693" r:id="rId13"/>
    <p:sldId id="7694" r:id="rId14"/>
    <p:sldId id="7695" r:id="rId15"/>
    <p:sldId id="7696" r:id="rId16"/>
    <p:sldId id="7699" r:id="rId17"/>
    <p:sldId id="7700" r:id="rId18"/>
    <p:sldId id="7701" r:id="rId19"/>
    <p:sldId id="7702" r:id="rId20"/>
    <p:sldId id="7691" r:id="rId21"/>
  </p:sldIdLst>
  <p:sldSz cx="12192000" cy="6858000"/>
  <p:notesSz cx="6858000" cy="9144000"/>
  <p:embeddedFontLst>
    <p:embeddedFont>
      <p:font typeface="DIN Pro Regular" panose="020B0504020101020102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669"/>
    <a:srgbClr val="B08C11"/>
    <a:srgbClr val="ECBD11"/>
    <a:srgbClr val="CDA208"/>
    <a:srgbClr val="EEC93C"/>
    <a:srgbClr val="EBB800"/>
    <a:srgbClr val="F1D870"/>
    <a:srgbClr val="EAB700"/>
    <a:srgbClr val="EDC225"/>
    <a:srgbClr val="E9B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4014" autoAdjust="0"/>
  </p:normalViewPr>
  <p:slideViewPr>
    <p:cSldViewPr snapToGrid="0">
      <p:cViewPr varScale="1">
        <p:scale>
          <a:sx n="120" d="100"/>
          <a:sy n="120" d="100"/>
        </p:scale>
        <p:origin x="712" y="184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766" y="102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DIN Pro Regular" panose="020B0504020101020102" pitchFamily="34" charset="0"/>
              </a:rPr>
              <a:t>16.05.2026</a:t>
            </a:fld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DIN Pro Regular" panose="020B0504020101020102" pitchFamily="34" charset="0"/>
              </a:rPr>
              <a:t>‹#›</a:t>
            </a:fld>
            <a:endParaRPr lang="ru-RU" dirty="0">
              <a:latin typeface="DIN Pro Regular" panose="020B05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16.05.2026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9CC4F-FC6E-1AE2-E011-2A7E88D7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62F561-CB54-4C64-6953-C73D4F05D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DC6679-E4AD-C16F-10AF-3D31EA89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B6CE04-0C73-99B1-00E9-F10AE1C7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2035EE-A62D-8D2A-789C-BB54885F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8ACBE-26F5-D7A0-DC72-E6B19DD0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C23CF6-EE64-AD95-7A5D-48D17E098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2518A1-50ED-1BE2-5540-896895B9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612D95-ACDA-D1B6-9B82-69E945A5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99EB6C-A638-454B-56E7-E09FC5FD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81145-7113-EA08-2C15-2370A2B7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F9029F-1DDA-A954-97E8-AA9DC9786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53E0F-7E44-78E2-D54F-A1F4DC8D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4B4268-5E2B-E6F2-A561-DF5A8FFB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B950EF-AF24-A7BF-5390-6C08033A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93C41-B93D-C55C-E0B0-2170CFAC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78A2E-9789-36F7-5C2C-627ADAE98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347593-FA17-83A5-B471-F7E66711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154582-2B0C-7796-739C-839F8068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04FA90-292A-5EF6-27F9-8015DB88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2891D-8DC0-A6B6-1F8D-CE93A0BA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A2DB43-011B-F951-34C7-6736CB925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740C6-8359-9B35-A9A2-3A3B5745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888E53-7DFF-844F-E196-BE5D545B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75CBEF-33FA-DDAB-D0B7-425A0645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2D2F0-6A2B-48E8-53D1-8E53B28A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17BBD3-7AB2-7AF9-8B3B-8DB04A58A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46098B-8B4E-D5AF-FB8C-A86F5953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C24D18-68A0-F3E4-BB77-96B1CEF8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F26CE-7C2A-AD07-2CF4-E2617D62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E6D18-C34B-33E5-AFFF-8AE7CBE5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015589-860D-A733-7E2B-EBA0FA5C4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2B91B9-8378-ACA6-CB89-651D6C50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98899-16DB-976A-27E2-68EB3E16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974DE5-DFFD-9234-1061-9B3BE526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72E15-FBE2-609E-85B6-0AADDDA3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05C527-3A5E-DD83-D89D-264628496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0A8808-E957-B4DB-86A6-50342A7E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2A9A57-4180-0872-FCF6-6DDB525D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3E18A2-D9B5-EFE7-0543-7CB0B3FF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B1BBF-77E8-D05F-505E-6907ED5D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84065-274F-C3B7-BC70-5D120B49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59F807-8FE1-3A25-8933-449A99AC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DCC21A-9322-5AAD-31A2-A4E97940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D781C-8FB0-B032-DFA6-2E4DE96A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5384B-2BA3-1E65-519B-9514D339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6FF0F8-E5ED-765D-619B-711664F99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41AA8A-1C05-D6BA-83C2-7D82A1D0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C0A232-AC82-3076-0CB0-13135BA6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4A4F05-0312-F143-E7B1-40DDB3C6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91ECA-3319-BE6C-5ED6-1ADFAEC8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B9AF7C-9903-45D7-9C4F-945FFFE4F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29FB4C-C32D-10AE-2FCF-08EBB1AA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B776E5-EAA1-9FFA-4BB2-FF9BEF69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7C3264-7455-E59D-5B21-E8803EED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B2625-4A39-395E-2811-F079B918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202A11-1E6B-2E78-10F7-1FA41532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3A021-123E-810E-426E-469016F3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E32D3E-D4F2-84B5-1BFC-EE280C3A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AAB11F-0227-D13C-E236-2EC2247C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C9515-C989-E871-0604-2CC4C4DF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3E92B2-2D87-2273-88C5-E7E00DE2F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882C11-21A7-A88C-1BE8-32F0A913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109D2-F964-44E5-86B0-A89A5B1B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321B3-F475-BC34-B018-F6177045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70DEE-C4C2-B409-61B4-8E441CAB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27AB27-D008-FD97-C2D7-4921D494D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97ABB-82D8-DFBB-6207-2F6E9C08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E4C833-1D4C-AB95-CD6A-77AAA6C7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3BA914-E55C-D9BA-BEB8-E7487E6B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52EBF-EEF9-B09D-D779-30CF64FD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D6150-A5E8-A48F-5BDD-1DF863E8F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EBD997-8DC1-4016-CF8E-616E59F9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0807D-118F-0415-BA0A-B8F97AEF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9078D3-2FA9-6815-C05C-CBBC5C3D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0DAC7-AA9B-4358-1523-478B61A9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B48D48-B9CC-0590-3627-36E61AD2C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B0439-44B8-1FF9-45D5-855FFEC2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91FD5-4E55-3564-4CA5-A02796B5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4EB173-256F-7DA5-FC5D-2A01BFF6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0D361-2907-07FC-9D95-176AB820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A8860E-D03D-D969-14A7-F4DBA81E0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C04E2-5883-F8F5-A047-C990C1A4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0D6B7C-174A-6C46-4D89-0ABDCD39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47191F-9BEE-C5C4-45C3-612BEFF9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3E91D-8D39-A54D-B5F4-739466AB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2918F1-2816-225C-345B-3AD7703C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82016-B8B3-04FB-2C8D-5E1EFBC1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F521C3-F92F-2A3F-5F0C-CEF14AD6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DD6F6-BBB2-A906-01EF-7AE01332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7FF17-9558-62BE-EC1D-C929A1CF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CFDDB7-4490-05C1-BCC4-39A1C496A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2CFA6-4686-257B-E23F-2787923D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B3D92A-45AF-0D98-65BA-BB26A497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06E7BA-0D72-30A5-90E0-A551A2B3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5A3B4-7523-DCEB-939A-C3398B4B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A9DAA-ED92-85A0-8074-58F774077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DBC54-4C98-F930-F1A4-D55BCAFA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F50AEB-4A0C-0E91-79B2-B151C029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939AF-AF48-64BE-36D6-7B101223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DF48E-0BF7-929D-434F-80FB9A3D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D485D4-F083-4FD2-9DD7-81005235C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A9B92B-F04A-6A36-796A-F15FEE44A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CB6AC-9994-B84F-8E57-C6F0C9AF0B3F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8A54D2-95CD-2827-B58F-BBD7E99ED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DCC2E0-A3E7-07F9-0DBA-4662B4F06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8CAA5-E98D-BC4E-B56E-DB02F51893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  <p:sldLayoutId id="214748380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E51E446-D541-B9E4-A005-11EBD07E6020}"/>
              </a:ext>
            </a:extLst>
          </p:cNvPr>
          <p:cNvSpPr>
            <a:spLocks noGrp="1"/>
          </p:cNvSpPr>
          <p:nvPr/>
        </p:nvSpPr>
        <p:spPr>
          <a:xfrm>
            <a:off x="1420420" y="833421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0" lang="ru-RU" sz="20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83D77-1CD6-5EAA-457F-F1BC09E5464E}"/>
              </a:ext>
            </a:extLst>
          </p:cNvPr>
          <p:cNvSpPr txBox="1"/>
          <p:nvPr/>
        </p:nvSpPr>
        <p:spPr>
          <a:xfrm>
            <a:off x="2312682" y="2298676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99D771-6AD2-A308-3FC6-8ECE685AB10C}"/>
              </a:ext>
            </a:extLst>
          </p:cNvPr>
          <p:cNvSpPr txBox="1"/>
          <p:nvPr/>
        </p:nvSpPr>
        <p:spPr>
          <a:xfrm>
            <a:off x="3128852" y="26136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индустриального программирования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7C0D5-ECE4-3310-28CA-4A87AA311D43}"/>
              </a:ext>
            </a:extLst>
          </p:cNvPr>
          <p:cNvSpPr txBox="1"/>
          <p:nvPr/>
        </p:nvSpPr>
        <p:spPr>
          <a:xfrm>
            <a:off x="2312681" y="3206551"/>
            <a:ext cx="7566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информационной системы для персонализированного подбора товарных позиций на основе предпочтений пользователя»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A3721-BB57-3DE6-012E-4C6CA846A8A6}"/>
              </a:ext>
            </a:extLst>
          </p:cNvPr>
          <p:cNvSpPr txBox="1"/>
          <p:nvPr/>
        </p:nvSpPr>
        <p:spPr>
          <a:xfrm>
            <a:off x="6010874" y="4384231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Подготовил: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студент группы ЭФМО-02-24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Фамилия Имя Отчество</a:t>
            </a:r>
          </a:p>
          <a:p>
            <a:pPr algn="r"/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профессор кафедры индустриального программирования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Хоменко Т. 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01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78E964-1EE0-1B97-1432-11399A194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2342" y="1348340"/>
            <a:ext cx="6880621" cy="4138697"/>
          </a:xfrm>
          <a:prstGeom prst="rect">
            <a:avLst/>
          </a:prstGeom>
        </p:spPr>
      </p:pic>
      <p:sp>
        <p:nvSpPr>
          <p:cNvPr id="42" name="Rectangle 12">
            <a:extLst>
              <a:ext uri="{FF2B5EF4-FFF2-40B4-BE49-F238E27FC236}">
                <a16:creationId xmlns:a16="http://schemas.microsoft.com/office/drawing/2014/main" id="{CC77C9C0-2C53-EF5A-A88E-C58BACCD859E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Pro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Pro Regular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6AE7D13-E043-0AFC-FA1C-9AC09F89FAB6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DC927F-911E-87F6-2B68-183BD777CE8E}"/>
              </a:ext>
            </a:extLst>
          </p:cNvPr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5C45F191-136D-9D03-82FB-64689FFC19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5532A72-D09D-1EA0-E564-E22601AF71B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63A8846E-7FA3-C31A-5F0A-D1920755944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78A01CC5-46A5-E755-CDAD-3E9EC0B4768D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0A438E69-33CD-BEE1-F0B8-5DE864C5858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56E385A-71D2-854E-9ACE-05D9A43897C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2D7B96C5-FDCE-D787-AD00-041DE4A080D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4F49C198-5B36-FB67-9264-DB7C6CB088B1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6A02F55-14D0-FAA8-86DC-EEFB10EC4039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AB50B02-3C4F-BD27-5A9B-DD47D4DF2FB5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B19F252-C3A0-23BE-D753-13E554908F20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207F4673-C3E0-D4EB-ECED-BCC8962FECD1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FB73DC69-0D27-9CE8-06DF-9AE5DED317D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9ED2D6E-E393-5B3B-2915-7235AF04E90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9752A926-3406-3CCF-086A-E64505944100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>
              <a:extLst>
                <a:ext uri="{FF2B5EF4-FFF2-40B4-BE49-F238E27FC236}">
                  <a16:creationId xmlns:a16="http://schemas.microsoft.com/office/drawing/2014/main" id="{78D49DE7-D7A1-3BC2-335C-816E085ACB9D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6B720BBE-A61C-98F5-B74A-A8D4B7AA03A8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ADB2CA8-C72E-DB5E-620F-58951A5AE96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>
              <a:extLst>
                <a:ext uri="{FF2B5EF4-FFF2-40B4-BE49-F238E27FC236}">
                  <a16:creationId xmlns:a16="http://schemas.microsoft.com/office/drawing/2014/main" id="{60710DFC-A7A0-DBA1-722C-2CA708D036F0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64F8E8C4-EE6C-3C4D-EF62-8312622CF53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C9849166-F482-9806-74DB-AF0DF8B5A3C7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8B9DBB2-D70C-034D-8DE9-FFE49F4FC73D}"/>
              </a:ext>
            </a:extLst>
          </p:cNvPr>
          <p:cNvSpPr txBox="1"/>
          <p:nvPr/>
        </p:nvSpPr>
        <p:spPr>
          <a:xfrm>
            <a:off x="102418" y="65725"/>
            <a:ext cx="76969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Актуальность исследования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4AD41-AF28-B38D-0D2D-AB984A410CDB}"/>
              </a:ext>
            </a:extLst>
          </p:cNvPr>
          <p:cNvSpPr txBox="1"/>
          <p:nvPr/>
        </p:nvSpPr>
        <p:spPr>
          <a:xfrm>
            <a:off x="0" y="2157328"/>
            <a:ext cx="805330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Национальный проект «Продолжительная и активная жизнь» предполагает рост продолжительности жизни до 78 лет к 2030 году. Один из путей к этому — культура питания. Однако между процессом покупки продуктов и контролем калорийности, белков, жиров и углеводов корзины существует разрыв, который массовые сервисы не закрывают.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: скругленные углы 9">
            <a:extLst>
              <a:ext uri="{FF2B5EF4-FFF2-40B4-BE49-F238E27FC236}">
                <a16:creationId xmlns:a16="http://schemas.microsoft.com/office/drawing/2014/main" id="{A5950B42-04E2-3440-E939-3235064DF3DD}"/>
              </a:ext>
            </a:extLst>
          </p:cNvPr>
          <p:cNvSpPr/>
          <p:nvPr/>
        </p:nvSpPr>
        <p:spPr>
          <a:xfrm>
            <a:off x="96967" y="4772447"/>
            <a:ext cx="2760955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Онлайн-магазины продуктов не считают КБЖУ корзины</a:t>
            </a:r>
          </a:p>
        </p:txBody>
      </p:sp>
      <p:sp>
        <p:nvSpPr>
          <p:cNvPr id="34" name="Прямоугольник: скругленные углы 12">
            <a:extLst>
              <a:ext uri="{FF2B5EF4-FFF2-40B4-BE49-F238E27FC236}">
                <a16:creationId xmlns:a16="http://schemas.microsoft.com/office/drawing/2014/main" id="{33D0AD3B-7AEC-F9EA-3786-7123993B35ED}"/>
              </a:ext>
            </a:extLst>
          </p:cNvPr>
          <p:cNvSpPr/>
          <p:nvPr/>
        </p:nvSpPr>
        <p:spPr>
          <a:xfrm>
            <a:off x="3122844" y="4772447"/>
            <a:ext cx="2790997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Фитнес-трекеры требуют ручного ввода данных после покупки</a:t>
            </a:r>
          </a:p>
        </p:txBody>
      </p:sp>
      <p:sp>
        <p:nvSpPr>
          <p:cNvPr id="36" name="Прямоугольник: скругленные углы 13">
            <a:extLst>
              <a:ext uri="{FF2B5EF4-FFF2-40B4-BE49-F238E27FC236}">
                <a16:creationId xmlns:a16="http://schemas.microsoft.com/office/drawing/2014/main" id="{C6A73F32-1462-FD14-6FB4-F1649B17879D}"/>
              </a:ext>
            </a:extLst>
          </p:cNvPr>
          <p:cNvSpPr/>
          <p:nvPr/>
        </p:nvSpPr>
        <p:spPr>
          <a:xfrm>
            <a:off x="6208057" y="4772447"/>
            <a:ext cx="2705123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 готовых рационов дороги и негибки</a:t>
            </a:r>
          </a:p>
        </p:txBody>
      </p:sp>
      <p:sp>
        <p:nvSpPr>
          <p:cNvPr id="37" name="Прямоугольник: скругленные углы 14">
            <a:extLst>
              <a:ext uri="{FF2B5EF4-FFF2-40B4-BE49-F238E27FC236}">
                <a16:creationId xmlns:a16="http://schemas.microsoft.com/office/drawing/2014/main" id="{AB9B5514-0763-12EE-3957-F7AB65782118}"/>
              </a:ext>
            </a:extLst>
          </p:cNvPr>
          <p:cNvSpPr/>
          <p:nvPr/>
        </p:nvSpPr>
        <p:spPr>
          <a:xfrm>
            <a:off x="9182367" y="4772447"/>
            <a:ext cx="2912666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 решения, объединяющего каталог и подбор рациона</a:t>
            </a:r>
          </a:p>
        </p:txBody>
      </p:sp>
      <p:sp>
        <p:nvSpPr>
          <p:cNvPr id="38" name="Знак ''плюс'' 15">
            <a:extLst>
              <a:ext uri="{FF2B5EF4-FFF2-40B4-BE49-F238E27FC236}">
                <a16:creationId xmlns:a16="http://schemas.microsoft.com/office/drawing/2014/main" id="{A8F7AF21-B2AB-1EEA-4FC9-363F3F93E02F}"/>
              </a:ext>
            </a:extLst>
          </p:cNvPr>
          <p:cNvSpPr/>
          <p:nvPr/>
        </p:nvSpPr>
        <p:spPr>
          <a:xfrm>
            <a:off x="2545303" y="5185374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Знак ''плюс'' 16">
            <a:extLst>
              <a:ext uri="{FF2B5EF4-FFF2-40B4-BE49-F238E27FC236}">
                <a16:creationId xmlns:a16="http://schemas.microsoft.com/office/drawing/2014/main" id="{7DA5D20A-0CFE-12DD-EC20-E128C400E52B}"/>
              </a:ext>
            </a:extLst>
          </p:cNvPr>
          <p:cNvSpPr/>
          <p:nvPr/>
        </p:nvSpPr>
        <p:spPr>
          <a:xfrm>
            <a:off x="5605487" y="5139236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Знак ''плюс'' 17">
            <a:extLst>
              <a:ext uri="{FF2B5EF4-FFF2-40B4-BE49-F238E27FC236}">
                <a16:creationId xmlns:a16="http://schemas.microsoft.com/office/drawing/2014/main" id="{774DCEC2-32D0-0809-90B6-C86652DB826C}"/>
              </a:ext>
            </a:extLst>
          </p:cNvPr>
          <p:cNvSpPr/>
          <p:nvPr/>
        </p:nvSpPr>
        <p:spPr>
          <a:xfrm>
            <a:off x="8604826" y="5121360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60" name="Заголовок"/>
          <p:cNvSpPr txBox="1"/>
          <p:nvPr/>
        </p:nvSpPr>
        <p:spPr>
          <a:xfrm>
            <a:off x="500000" y="240000"/>
            <a:ext cx="1000000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Объект, предмет, цель и задачи исследования</a:t>
            </a:r>
          </a:p>
        </p:txBody>
      </p:sp>
      <p:sp>
        <p:nvSpPr>
          <p:cNvPr id="61" name="Объект"/>
          <p:cNvSpPr txBox="1"/>
          <p:nvPr/>
        </p:nvSpPr>
        <p:spPr>
          <a:xfrm>
            <a:off x="400000" y="1200000"/>
            <a:ext cx="5500000" cy="15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формирования продуктовой корзины пользователя в онлайн-магазинах продуктов</a:t>
            </a:r>
          </a:p>
        </p:txBody>
      </p:sp>
      <p:sp>
        <p:nvSpPr>
          <p:cNvPr id="62" name="Предмет"/>
          <p:cNvSpPr txBox="1"/>
          <p:nvPr/>
        </p:nvSpPr>
        <p:spPr>
          <a:xfrm>
            <a:off x="400000" y="2850000"/>
            <a:ext cx="5500000" cy="15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алгоритмы подбора продуктов и блюд с учётом КБЖУ корзины и истории заказов пользователя</a:t>
            </a:r>
          </a:p>
        </p:txBody>
      </p:sp>
      <p:sp>
        <p:nvSpPr>
          <p:cNvPr id="63" name="Цель"/>
          <p:cNvSpPr txBox="1"/>
          <p:nvPr/>
        </p:nvSpPr>
        <p:spPr>
          <a:xfrm>
            <a:off x="400000" y="4500000"/>
            <a:ext cx="5500000" cy="1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формирования рациона питания граждан путём персонализированного подбора блюд на основе выбранных товарных позиций</a:t>
            </a:r>
          </a:p>
        </p:txBody>
      </p:sp>
      <p:sp>
        <p:nvSpPr>
          <p:cNvPr id="64" name="Задачи"/>
          <p:cNvSpPr txBox="1"/>
          <p:nvPr/>
        </p:nvSpPr>
        <p:spPr>
          <a:xfrm>
            <a:off x="6150000" y="1200000"/>
            <a:ext cx="5650000" cy="52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</a:t>
            </a:r>
          </a:p>
          <a:p>
            <a:pPr algn="just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Исследовать предметную область, выявить объект и предмет исследования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Рассмотреть задачу о рационе и методы её решения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Рассмотреть бинарные отношения предпочтения в заданной предметной области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Разработать технические требования к информационной системе и её архитектуру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Выполнить адаптацию задачи о рационе в заданной предметной области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Определить оценку эффективности реализации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5201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19" name="Заголовок"/>
          <p:cNvSpPr txBox="1"/>
          <p:nvPr/>
        </p:nvSpPr>
        <p:spPr>
          <a:xfrm>
            <a:off x="600000" y="280000"/>
            <a:ext cx="980000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20" name="Колонка 1"/>
          <p:cNvSpPr txBox="1"/>
          <p:nvPr/>
        </p:nvSpPr>
        <p:spPr>
          <a:xfrm>
            <a:off x="423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Онлайн-магазины продуктов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Рекомендуют «похожие товары» и работают на средний чек. Нутриентный состав корзины не учитывается.</a:t>
            </a:r>
          </a:p>
        </p:txBody>
      </p:sp>
      <p:sp>
        <p:nvSpPr>
          <p:cNvPr id="21" name="Колонка 2"/>
          <p:cNvSpPr txBox="1"/>
          <p:nvPr/>
        </p:nvSpPr>
        <p:spPr>
          <a:xfrm>
            <a:off x="4346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Фитнес-трекеры питания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Считают КБЖУ, но пользователь вводит данные вручную уже после покупки и потребления.</a:t>
            </a:r>
          </a:p>
        </p:txBody>
      </p:sp>
      <p:sp>
        <p:nvSpPr>
          <p:cNvPr id="22" name="Колонка 3"/>
          <p:cNvSpPr txBox="1"/>
          <p:nvPr/>
        </p:nvSpPr>
        <p:spPr>
          <a:xfrm>
            <a:off x="8269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 готовых рационов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 рассчитывают КБЖУ, но дороги и не дают гибко менять состав рациона.</a:t>
            </a:r>
          </a:p>
        </p:txBody>
      </p:sp>
      <p:sp>
        <p:nvSpPr>
          <p:cNvPr id="23" name="Вывод"/>
          <p:cNvSpPr txBox="1"/>
          <p:nvPr/>
        </p:nvSpPr>
        <p:spPr>
          <a:xfrm>
            <a:off x="423000" y="4650000"/>
            <a:ext cx="11346000" cy="15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 одно из решений не объединяет каталог товаров, автоматический расчёт КБЖУ и подбор блюд по составу корзины — это и определяет необходимость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28424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Постановка задачи о рационе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классической задачи о диете — к учёту предпочтений пользователя</a:t>
            </a:r>
          </a:p>
        </p:txBody>
      </p:sp>
      <p:pic>
        <p:nvPicPr>
          <p:cNvPr id="40" name="Граф предпочтени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50000"/>
            <a:ext cx="7000000" cy="357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Классическая задача о диете (Дж. Стиглер, 1945) минимизирует стоимость набора продуктов при заданных нормах КБЖУ, но не учитывает предпочтения пользователя.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Предпочтения формализованы бинарными отношениями: строгое P, безразличие I, нестрогое R. Это позволяет перейти от минимизации стоимости к функции полезности U(x).</a:t>
            </a:r>
          </a:p>
        </p:txBody>
      </p:sp>
    </p:spTree>
    <p:extLst>
      <p:ext uri="{BB962C8B-B14F-4D97-AF65-F5344CB8AC3E}">
        <p14:creationId xmlns:p14="http://schemas.microsoft.com/office/powerpoint/2010/main" val="177459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Архитектура информационной системы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модель с гибридным хранилищем данных</a:t>
            </a:r>
          </a:p>
        </p:txBody>
      </p:sp>
      <p:pic>
        <p:nvPicPr>
          <p:cNvPr id="40" name="Схема архитектур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00000"/>
            <a:ext cx="7000000" cy="364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— одностраничное приложение на Vue 3. Сервер — на языке Go с многослойной структурой: API, обработчики, сервисы, репозитории.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Гибридное хранилище: PostgreSQL — 12 структурированных сущностей; MongoDB — изображения товаров. Аналитический модуль реализован на Python.</a:t>
            </a:r>
          </a:p>
        </p:txBody>
      </p:sp>
    </p:spTree>
    <p:extLst>
      <p:ext uri="{BB962C8B-B14F-4D97-AF65-F5344CB8AC3E}">
        <p14:creationId xmlns:p14="http://schemas.microsoft.com/office/powerpoint/2010/main" val="177459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Рекомендательный модуль: научная новизна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Двухслойная гибридная схема подбора рациона</a:t>
            </a:r>
          </a:p>
        </p:txBody>
      </p:sp>
      <p:pic>
        <p:nvPicPr>
          <p:cNvPr id="40" name="Схема рекомендаци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50000"/>
            <a:ext cx="7000000" cy="361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Слой на Go — быстрый подбор блюд по составу корзины: доля совпавших ингредиентов и нутриентный скор по балансу КБЖУ.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Слой на Python — персонализация: матричное разложение TruncatedSVD и гибридный скор товара по КБЖУ, истории, блюдам и давности покупок.</a:t>
            </a:r>
          </a:p>
        </p:txBody>
      </p:sp>
    </p:spTree>
    <p:extLst>
      <p:ext uri="{BB962C8B-B14F-4D97-AF65-F5344CB8AC3E}">
        <p14:creationId xmlns:p14="http://schemas.microsoft.com/office/powerpoint/2010/main" val="177459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Результаты тестирования и оценка эффективности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Гибридная модель превосходит базовые подходы</a:t>
            </a:r>
          </a:p>
        </p:txBody>
      </p:sp>
      <p:pic>
        <p:nvPicPr>
          <p:cNvPr id="40" name="График метри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350000"/>
            <a:ext cx="6700000" cy="401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00000" y="2000000"/>
            <a:ext cx="42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модульное, интеграционное и нагрузочное тестирование. Время отклика сервера — в пределах целевых 200 мс.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000" y="4050000"/>
            <a:ext cx="42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рекомендаций оценено по метрикам Precision@K, Recall@K и авторской метрике NAS. Гибридная модель показала лучший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7459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78E964-1EE0-1B97-1432-11399A194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2342" y="1348340"/>
            <a:ext cx="6880621" cy="4138697"/>
          </a:xfrm>
          <a:prstGeom prst="rect">
            <a:avLst/>
          </a:prstGeom>
        </p:spPr>
      </p:pic>
      <p:sp>
        <p:nvSpPr>
          <p:cNvPr id="42" name="Rectangle 12">
            <a:extLst>
              <a:ext uri="{FF2B5EF4-FFF2-40B4-BE49-F238E27FC236}">
                <a16:creationId xmlns:a16="http://schemas.microsoft.com/office/drawing/2014/main" id="{CC77C9C0-2C53-EF5A-A88E-C58BACCD859E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Pro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Pro Regular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6AE7D13-E043-0AFC-FA1C-9AC09F89FAB6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DC927F-911E-87F6-2B68-183BD777CE8E}"/>
              </a:ext>
            </a:extLst>
          </p:cNvPr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5C45F191-136D-9D03-82FB-64689FFC19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5532A72-D09D-1EA0-E564-E22601AF71B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63A8846E-7FA3-C31A-5F0A-D1920755944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78A01CC5-46A5-E755-CDAD-3E9EC0B4768D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0A438E69-33CD-BEE1-F0B8-5DE864C5858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56E385A-71D2-854E-9ACE-05D9A43897C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2D7B96C5-FDCE-D787-AD00-041DE4A080D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4F49C198-5B36-FB67-9264-DB7C6CB088B1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6A02F55-14D0-FAA8-86DC-EEFB10EC4039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AB50B02-3C4F-BD27-5A9B-DD47D4DF2FB5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B19F252-C3A0-23BE-D753-13E554908F20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207F4673-C3E0-D4EB-ECED-BCC8962FECD1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FB73DC69-0D27-9CE8-06DF-9AE5DED317D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9ED2D6E-E393-5B3B-2915-7235AF04E90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9752A926-3406-3CCF-086A-E64505944100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>
              <a:extLst>
                <a:ext uri="{FF2B5EF4-FFF2-40B4-BE49-F238E27FC236}">
                  <a16:creationId xmlns:a16="http://schemas.microsoft.com/office/drawing/2014/main" id="{78D49DE7-D7A1-3BC2-335C-816E085ACB9D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6B720BBE-A61C-98F5-B74A-A8D4B7AA03A8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ADB2CA8-C72E-DB5E-620F-58951A5AE96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>
              <a:extLst>
                <a:ext uri="{FF2B5EF4-FFF2-40B4-BE49-F238E27FC236}">
                  <a16:creationId xmlns:a16="http://schemas.microsoft.com/office/drawing/2014/main" id="{60710DFC-A7A0-DBA1-722C-2CA708D036F0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64F8E8C4-EE6C-3C4D-EF62-8312622CF53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C9849166-F482-9806-74DB-AF0DF8B5A3C7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8B9DBB2-D70C-034D-8DE9-FFE49F4FC73D}"/>
              </a:ext>
            </a:extLst>
          </p:cNvPr>
          <p:cNvSpPr txBox="1"/>
          <p:nvPr/>
        </p:nvSpPr>
        <p:spPr>
          <a:xfrm>
            <a:off x="102418" y="65725"/>
            <a:ext cx="76969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4AD41-AF28-B38D-0D2D-AB984A410CDB}"/>
              </a:ext>
            </a:extLst>
          </p:cNvPr>
          <p:cNvSpPr txBox="1"/>
          <p:nvPr/>
        </p:nvSpPr>
        <p:spPr>
          <a:xfrm>
            <a:off x="0" y="2157328"/>
            <a:ext cx="805330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 рамках работы спроектирована и реализована информационная система персонализированного подбора товарных позиций и блюд. Цель — повышение эффективности формирования рациона питания граждан — достигнута, все шесть задач, поставленных в задании, решены.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: скругленные углы 9">
            <a:extLst>
              <a:ext uri="{FF2B5EF4-FFF2-40B4-BE49-F238E27FC236}">
                <a16:creationId xmlns:a16="http://schemas.microsoft.com/office/drawing/2014/main" id="{A5950B42-04E2-3440-E939-3235064DF3DD}"/>
              </a:ext>
            </a:extLst>
          </p:cNvPr>
          <p:cNvSpPr/>
          <p:nvPr/>
        </p:nvSpPr>
        <p:spPr>
          <a:xfrm>
            <a:off x="96967" y="4772447"/>
            <a:ext cx="2760955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и реализована информационная система</a:t>
            </a:r>
          </a:p>
        </p:txBody>
      </p:sp>
      <p:sp>
        <p:nvSpPr>
          <p:cNvPr id="34" name="Прямоугольник: скругленные углы 12">
            <a:extLst>
              <a:ext uri="{FF2B5EF4-FFF2-40B4-BE49-F238E27FC236}">
                <a16:creationId xmlns:a16="http://schemas.microsoft.com/office/drawing/2014/main" id="{33D0AD3B-7AEC-F9EA-3786-7123993B35ED}"/>
              </a:ext>
            </a:extLst>
          </p:cNvPr>
          <p:cNvSpPr/>
          <p:nvPr/>
        </p:nvSpPr>
        <p:spPr>
          <a:xfrm>
            <a:off x="3122844" y="4772447"/>
            <a:ext cx="2790997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двухслойный рекомендательный модуль</a:t>
            </a:r>
          </a:p>
        </p:txBody>
      </p:sp>
      <p:sp>
        <p:nvSpPr>
          <p:cNvPr id="36" name="Прямоугольник: скругленные углы 13">
            <a:extLst>
              <a:ext uri="{FF2B5EF4-FFF2-40B4-BE49-F238E27FC236}">
                <a16:creationId xmlns:a16="http://schemas.microsoft.com/office/drawing/2014/main" id="{C6A73F32-1462-FD14-6FB4-F1649B17879D}"/>
              </a:ext>
            </a:extLst>
          </p:cNvPr>
          <p:cNvSpPr/>
          <p:nvPr/>
        </p:nvSpPr>
        <p:spPr>
          <a:xfrm>
            <a:off x="6208057" y="4772447"/>
            <a:ext cx="2705123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подтверждена тестированием</a:t>
            </a:r>
          </a:p>
        </p:txBody>
      </p:sp>
      <p:sp>
        <p:nvSpPr>
          <p:cNvPr id="37" name="Прямоугольник: скругленные углы 14">
            <a:extLst>
              <a:ext uri="{FF2B5EF4-FFF2-40B4-BE49-F238E27FC236}">
                <a16:creationId xmlns:a16="http://schemas.microsoft.com/office/drawing/2014/main" id="{AB9B5514-0763-12EE-3957-F7AB65782118}"/>
              </a:ext>
            </a:extLst>
          </p:cNvPr>
          <p:cNvSpPr/>
          <p:nvPr/>
        </p:nvSpPr>
        <p:spPr>
          <a:xfrm>
            <a:off x="9182367" y="4772447"/>
            <a:ext cx="2912666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выполнены, цель достигнута</a:t>
            </a:r>
          </a:p>
        </p:txBody>
      </p:sp>
      <p:sp>
        <p:nvSpPr>
          <p:cNvPr id="38" name="Знак ''плюс'' 15">
            <a:extLst>
              <a:ext uri="{FF2B5EF4-FFF2-40B4-BE49-F238E27FC236}">
                <a16:creationId xmlns:a16="http://schemas.microsoft.com/office/drawing/2014/main" id="{A8F7AF21-B2AB-1EEA-4FC9-363F3F93E02F}"/>
              </a:ext>
            </a:extLst>
          </p:cNvPr>
          <p:cNvSpPr/>
          <p:nvPr/>
        </p:nvSpPr>
        <p:spPr>
          <a:xfrm>
            <a:off x="2545303" y="5185374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Знак ''плюс'' 16">
            <a:extLst>
              <a:ext uri="{FF2B5EF4-FFF2-40B4-BE49-F238E27FC236}">
                <a16:creationId xmlns:a16="http://schemas.microsoft.com/office/drawing/2014/main" id="{7DA5D20A-0CFE-12DD-EC20-E128C400E52B}"/>
              </a:ext>
            </a:extLst>
          </p:cNvPr>
          <p:cNvSpPr/>
          <p:nvPr/>
        </p:nvSpPr>
        <p:spPr>
          <a:xfrm>
            <a:off x="5605487" y="5139236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Знак ''плюс'' 17">
            <a:extLst>
              <a:ext uri="{FF2B5EF4-FFF2-40B4-BE49-F238E27FC236}">
                <a16:creationId xmlns:a16="http://schemas.microsoft.com/office/drawing/2014/main" id="{774DCEC2-32D0-0809-90B6-C86652DB826C}"/>
              </a:ext>
            </a:extLst>
          </p:cNvPr>
          <p:cNvSpPr/>
          <p:nvPr/>
        </p:nvSpPr>
        <p:spPr>
          <a:xfrm>
            <a:off x="8604826" y="5121360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7BF9-9A37-E626-174D-162B497C4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865" y="2831236"/>
            <a:ext cx="5896792" cy="168513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685614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DIN Pro Regular"/>
        <a:font script="Hebr" typeface="DIN Pro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IN Pro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DIN Pro Regular"/>
        <a:font script="Hebr" typeface="DIN Pro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IN Pro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19074</TotalTime>
  <Words>630</Words>
  <Application>Microsoft Macintosh PowerPoint</Application>
  <PresentationFormat>Широкоэкранный</PresentationFormat>
  <Paragraphs>66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10</vt:i4>
      </vt:variant>
    </vt:vector>
  </HeadingPairs>
  <TitlesOfParts>
    <vt:vector size="26" baseType="lpstr">
      <vt:lpstr>DIN Pro Regular</vt:lpstr>
      <vt:lpstr>Times New Roman</vt:lpstr>
      <vt:lpstr>Calibri</vt:lpstr>
      <vt:lpstr>Arial</vt:lpstr>
      <vt:lpstr>Calibri Light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Алексей Болдинов</cp:lastModifiedBy>
  <cp:revision>939</cp:revision>
  <dcterms:created xsi:type="dcterms:W3CDTF">2021-05-24T15:42:45Z</dcterms:created>
  <dcterms:modified xsi:type="dcterms:W3CDTF">2026-05-16T10:18:24Z</dcterms:modified>
</cp:coreProperties>
</file>