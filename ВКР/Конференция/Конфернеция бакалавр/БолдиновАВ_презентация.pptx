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2" r:id="rId5"/>
    <p:sldId id="269" r:id="rId6"/>
    <p:sldId id="270" r:id="rId7"/>
    <p:sldId id="259" r:id="rId8"/>
    <p:sldId id="271" r:id="rId9"/>
    <p:sldId id="260" r:id="rId10"/>
    <p:sldId id="263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AF"/>
    <a:srgbClr val="0068B0"/>
    <a:srgbClr val="CDDB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70BBE-3059-4A4F-D2D2-E1409FE55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740F9B-473E-49E5-6303-39AEED3AB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FD95B9-35CC-8776-F4D4-A7D92114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9D12D-0857-33F5-0BD1-A0CF3ACD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02B67D-1391-0071-8767-598D0E9E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34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9FA1F-34DC-9C5B-7C66-1AF87119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08A29E-CA9C-58CA-710F-1BC2C7259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1E76E9-CCD4-8D9F-BD20-ABD04FB1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C8E7-6E6C-C97F-1E29-8EA645B9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39A6D-E8C0-DD2E-A4E4-7D34D2FA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39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08141-5112-C225-CD0E-EF2EA33A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9C28C3-736C-1E27-3C03-2AA39A7BB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AC3D31-342A-9436-BB2C-8A7519E2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821386-AEE5-E27C-7FD2-3ABBC7B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BA2ED3-1F0A-656B-5A6A-6FDC726F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62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87662-4F95-4F16-B59A-96474078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B8510-8B7A-95DB-C942-62120E575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6B5884-FB25-6293-577F-9E353AE07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D68CF6-A696-8575-3373-F74B5C79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0BA3D5-8574-A2F2-D4CA-EF0905A3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1D3057-73A6-DAC7-9B53-BA2285E3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77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B75BD-89C2-1BD3-008A-33996D1E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D41C37-EB12-4E22-3BAF-CF94FF300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6532F8-758E-20A7-866E-884D83868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93E60E-85F7-71E1-0845-D8067BC0A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D73B6C-E315-513F-8081-AAC4CA8D1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0F14B9-74F0-A4AB-C584-8E7172A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47BC94-52AF-B5BE-527E-1B32D6AA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F56F45-8100-2C54-02F0-1742D794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41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30FC0-4C3D-FD78-759F-88CDBA9C2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3FA063-1B5F-1DBC-700D-948FE96C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CE9DC9-34E3-2598-B0DE-31DE0164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189C43-EB6F-F7A4-99D1-C8F29925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95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F120A-191D-FF08-A568-BECC0E8A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F59D9C-8C7C-B33E-5154-A12BF621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7BAEA1-C05E-88D9-99AB-BD68D529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60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D6134-B8EA-5E6E-3304-AF6C9B82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008161-2ADB-9063-FAF8-DC0453F8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1F04F8-3B0D-D1CA-A26C-DE0B8E8D9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66252D-0F35-74D2-B55F-F61E3EBD4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CB62B7-0D45-89D8-A120-C6D9997C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EA4C7-F7BF-79E8-9B56-8559CDD7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95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5AFCE-E832-B8A7-9AD2-EBE23486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3B93D0-2185-918E-1CF7-3C249D8A7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848FA2-7F47-2D20-AB49-D57253703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40C249-30DD-AB83-285B-F878902D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CD04C-3EA5-7609-7CDC-D7BDFA4A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30F6D3-6047-2B8F-AB9A-AE59C06C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83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64554-87C9-AFA8-CA6F-652A8300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897449-2272-A7BF-4C84-74C3FBEE4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B95AFE-82CB-F4F5-1334-5EDAE548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A3D90A-CC1C-27AB-C733-3B553902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8E8174-4D89-60DB-C78C-8FB49DB7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99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A0ECD8-BD4B-9496-8235-33AE15BF8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F8C335-D974-5C15-B630-F95CAE24D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E6A663-94FB-07DB-35D7-2E0D0149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A00CE8-62B9-F384-E513-2D20D666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D7D49E-CFDC-59CC-0754-D519B70B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15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59F67-19A1-22C8-45FD-4B58F053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348F93-20D4-D4C7-7E13-72F18E9F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D6322-6414-86F2-6586-D295584DE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70B6B-4FBE-4E98-8A1F-78384795D1E4}" type="datetimeFigureOut">
              <a:rPr lang="ru-RU" smtClean="0"/>
              <a:t>17.05.2024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2E583E-E0A5-4095-4004-3A8E8531F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6A73B2-8636-28A5-E2CF-6F26E909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09EFD-1D15-41E9-B894-6A850B9584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0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AE5CDD-1111-37B1-0E25-CCE014A10F68}"/>
              </a:ext>
            </a:extLst>
          </p:cNvPr>
          <p:cNvSpPr txBox="1"/>
          <p:nvPr/>
        </p:nvSpPr>
        <p:spPr>
          <a:xfrm>
            <a:off x="0" y="6522363"/>
            <a:ext cx="961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PT Sans" panose="020B0503020203020204" pitchFamily="34" charset="-52"/>
              </a:rPr>
              <a:t>Москва, </a:t>
            </a:r>
            <a:r>
              <a:rPr lang="ru-RU" sz="1600" b="1" dirty="0" smtClean="0">
                <a:latin typeface="PT Sans" panose="020B0503020203020204" pitchFamily="34" charset="-52"/>
              </a:rPr>
              <a:t>27 </a:t>
            </a:r>
            <a:r>
              <a:rPr lang="ru-RU" sz="1600" b="1" dirty="0">
                <a:latin typeface="PT Sans" panose="020B0503020203020204" pitchFamily="34" charset="-52"/>
              </a:rPr>
              <a:t>марта 2024 г.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E4B51-24B0-76A3-4FFA-1BB9A747BFCB}"/>
              </a:ext>
            </a:extLst>
          </p:cNvPr>
          <p:cNvSpPr txBox="1"/>
          <p:nvPr/>
        </p:nvSpPr>
        <p:spPr>
          <a:xfrm>
            <a:off x="2337757" y="2477216"/>
            <a:ext cx="94545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Разработка проекта архитектурного решения по цифровой трансформации процесса учета и контроля внеурочных мероприятий общеобразовательной организации на примере ГБОУ «Школа №1400»</a:t>
            </a:r>
            <a:endParaRPr lang="ru-RU" sz="2800" b="1" dirty="0">
              <a:solidFill>
                <a:srgbClr val="FFFF00"/>
              </a:solidFill>
              <a:latin typeface="PT Sans" panose="020B0503020203020204" pitchFamily="34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F4496-22A5-7DA8-14E6-7BD5686B8A10}"/>
              </a:ext>
            </a:extLst>
          </p:cNvPr>
          <p:cNvSpPr txBox="1"/>
          <p:nvPr/>
        </p:nvSpPr>
        <p:spPr>
          <a:xfrm>
            <a:off x="4606505" y="4823833"/>
            <a:ext cx="6032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PT Sans" panose="020B0503020203020204" pitchFamily="34" charset="-52"/>
              </a:rPr>
              <a:t>Автор: </a:t>
            </a:r>
            <a:r>
              <a:rPr lang="ru-RU" i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Болдинов Алексей Валерьевич</a:t>
            </a:r>
            <a:endParaRPr lang="ru-RU" i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endParaRPr lang="ru-RU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dirty="0">
                <a:solidFill>
                  <a:schemeClr val="bg1"/>
                </a:solidFill>
                <a:latin typeface="PT Sans" panose="020B0503020203020204" pitchFamily="34" charset="-52"/>
              </a:rPr>
              <a:t>Руководитель: </a:t>
            </a:r>
            <a:r>
              <a:rPr lang="ru-RU" dirty="0" smtClean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i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к.т.н., доцент, доцент кафедры ЦТ </a:t>
            </a:r>
            <a:br>
              <a:rPr lang="ru-RU" i="1" dirty="0" smtClean="0">
                <a:solidFill>
                  <a:schemeClr val="bg1"/>
                </a:solidFill>
                <a:latin typeface="PT Sans" panose="020B0503020203020204" pitchFamily="34" charset="-52"/>
              </a:rPr>
            </a:br>
            <a:r>
              <a:rPr lang="ru-RU" i="1" dirty="0" err="1" smtClean="0">
                <a:solidFill>
                  <a:schemeClr val="bg1"/>
                </a:solidFill>
                <a:latin typeface="PT Sans" panose="020B0503020203020204" pitchFamily="34" charset="-52"/>
              </a:rPr>
              <a:t>Дзгоев</a:t>
            </a:r>
            <a:r>
              <a:rPr lang="ru-RU" i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 Алан Эдуардович</a:t>
            </a:r>
            <a:endParaRPr lang="ru-RU" i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9B748-8080-F9D8-E83A-006045E83C39}"/>
              </a:ext>
            </a:extLst>
          </p:cNvPr>
          <p:cNvSpPr txBox="1"/>
          <p:nvPr/>
        </p:nvSpPr>
        <p:spPr>
          <a:xfrm>
            <a:off x="2337758" y="335637"/>
            <a:ext cx="9854241" cy="53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МИРЭА- Российский технологический университет</a:t>
            </a: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Институт кибербезопасности и цифровых технологий</a:t>
            </a: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Кафедра «Предметно-ориентированные информационные системы»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3AB74-AA6D-4B63-A0FB-901E802F0AD8}"/>
              </a:ext>
            </a:extLst>
          </p:cNvPr>
          <p:cNvSpPr txBox="1"/>
          <p:nvPr/>
        </p:nvSpPr>
        <p:spPr>
          <a:xfrm>
            <a:off x="2337758" y="2138662"/>
            <a:ext cx="8405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PT Sans" panose="020B0503020203020204"/>
              </a:rPr>
              <a:t>Доклад на тему:</a:t>
            </a:r>
            <a:endParaRPr lang="ru-RU" sz="24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146EADD-E926-4CB5-A9C2-4716531519C1}"/>
              </a:ext>
            </a:extLst>
          </p:cNvPr>
          <p:cNvSpPr/>
          <p:nvPr/>
        </p:nvSpPr>
        <p:spPr>
          <a:xfrm>
            <a:off x="2337757" y="921999"/>
            <a:ext cx="96129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PT Sans" panose="020B0503020203020204"/>
              </a:rPr>
              <a:t>Ежегодная национальная конференция «ИНФОРМАЦИОННЫЕ ТЕХНОЛОГИИ И ИНТЕЛЛЕКТУАЛЬНЫЕ СИСТЕМЫ»</a:t>
            </a:r>
            <a:br>
              <a:rPr lang="ru-RU" sz="1200" dirty="0">
                <a:solidFill>
                  <a:schemeClr val="bg1"/>
                </a:solidFill>
                <a:latin typeface="PT Sans" panose="020B0503020203020204"/>
              </a:rPr>
            </a:br>
            <a:endParaRPr lang="ru-RU" sz="1200" dirty="0">
              <a:solidFill>
                <a:schemeClr val="bg1"/>
              </a:solidFill>
              <a:latin typeface="PT Sans" panose="020B0503020203020204"/>
            </a:endParaRPr>
          </a:p>
          <a:p>
            <a:pPr algn="ctr"/>
            <a:r>
              <a:rPr lang="ru-RU" sz="1200" dirty="0">
                <a:solidFill>
                  <a:schemeClr val="bg1"/>
                </a:solidFill>
                <a:latin typeface="PT Sans" panose="020B0503020203020204"/>
              </a:rPr>
              <a:t>Секция «АКТУАЛЬНЫЕ ВОПРОСЫ ПРОЕКТИРОВАНИЯ И ВНЕДРЕНИЯ ИНФОРМАЦИОННЫХ СИСТЕМ И ТЕХНОЛОГИЙ В БИЗНЕС-ПРОЦЕССЫ ОРГАНИЗАЦИЙ»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7EA906B-7495-4015-AA52-41BCA1C3C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21" y="2532367"/>
            <a:ext cx="1793265" cy="179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01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1" y="287639"/>
            <a:ext cx="8598379" cy="466741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1.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Характеристика</a:t>
            </a:r>
            <a:r>
              <a:rPr lang="en-US" sz="2400" b="1" dirty="0" smtClean="0">
                <a:solidFill>
                  <a:srgbClr val="0069AF"/>
                </a:solidFill>
                <a:latin typeface="PT Sans" panose="020B0503020203020204"/>
              </a:rPr>
              <a:t>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ГБОУ Школа №1400 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461" y="931805"/>
            <a:ext cx="5598006" cy="5408660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Характеристика объекта исследования может включать следующие аспекты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История и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репутация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Структура 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организация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Инфраструктура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Кадровый состав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Ученики 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обучение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Общение с родителями 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Ценности 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культура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ru-RU" sz="1400" dirty="0">
              <a:latin typeface="PT Sans" panose="020B0503020203020204"/>
            </a:endParaRPr>
          </a:p>
          <a:p>
            <a:pPr marL="342900" indent="-342900">
              <a:buAutoNum type="arabicPeriod"/>
            </a:pPr>
            <a:endParaRPr lang="ru-RU" sz="1400" dirty="0">
              <a:latin typeface="PT Sans" panose="020B0503020203020204"/>
            </a:endParaRPr>
          </a:p>
          <a:p>
            <a:pPr marL="342900" indent="-342900">
              <a:buAutoNum type="arabicPeriod"/>
            </a:pPr>
            <a:endParaRPr lang="ru-RU" sz="1400" dirty="0"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graphicFrame>
        <p:nvGraphicFramePr>
          <p:cNvPr id="9" name="Объект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2080988"/>
              </p:ext>
            </p:extLst>
          </p:nvPr>
        </p:nvGraphicFramePr>
        <p:xfrm>
          <a:off x="6172200" y="931805"/>
          <a:ext cx="5692139" cy="5245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42">
                  <a:extLst>
                    <a:ext uri="{9D8B030D-6E8A-4147-A177-3AD203B41FA5}">
                      <a16:colId xmlns:a16="http://schemas.microsoft.com/office/drawing/2014/main" val="3105648258"/>
                    </a:ext>
                  </a:extLst>
                </a:gridCol>
                <a:gridCol w="3246750">
                  <a:extLst>
                    <a:ext uri="{9D8B030D-6E8A-4147-A177-3AD203B41FA5}">
                      <a16:colId xmlns:a16="http://schemas.microsoft.com/office/drawing/2014/main" val="391006845"/>
                    </a:ext>
                  </a:extLst>
                </a:gridCol>
                <a:gridCol w="2090147">
                  <a:extLst>
                    <a:ext uri="{9D8B030D-6E8A-4147-A177-3AD203B41FA5}">
                      <a16:colId xmlns:a16="http://schemas.microsoft.com/office/drawing/2014/main" val="1643727536"/>
                    </a:ext>
                  </a:extLst>
                </a:gridCol>
              </a:tblGrid>
              <a:tr h="34239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Наименование бизнес-процесса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Тип процесса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1159873"/>
                  </a:ext>
                </a:extLst>
              </a:tr>
              <a:tr h="34239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Планирование учебного года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Управляющий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0656629"/>
                  </a:ext>
                </a:extLst>
              </a:tr>
              <a:tr h="34239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Организация учебного процесса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Основной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122101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Проведение внеурочных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Основной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2287296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Регистрация участников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Обеспечивающий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9034435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Контроль посещаемости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Управляющий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401410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Оценка эффективности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Развивающий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2001099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Анализ и коррекция процесса учета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Развивающий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8386034"/>
                  </a:ext>
                </a:extLst>
              </a:tr>
              <a:tr h="70663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Обучение сотрудников работе с системой учета мероприятий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Обеспечивающий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917962"/>
                  </a:ext>
                </a:extLst>
              </a:tr>
              <a:tr h="88875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Интеграция системы учета мероприятий с другими информационными системами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Обеспечивающий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3009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11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" y="287638"/>
            <a:ext cx="11785120" cy="644166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2.1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Модель бизнес-процесса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«контроль и учёт внеурочных мероприятий»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в нотации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BPMN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460" y="931804"/>
            <a:ext cx="11654981" cy="5245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 smtClean="0"/>
              <a:t>Первый </a:t>
            </a:r>
            <a:r>
              <a:rPr lang="ru-RU" sz="1400" dirty="0"/>
              <a:t>вариант развития внеурочного мероприятия в школе</a:t>
            </a:r>
          </a:p>
          <a:p>
            <a:pPr marL="0" indent="0">
              <a:buNone/>
            </a:pPr>
            <a:endParaRPr lang="ru-RU" sz="1400" dirty="0"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970"/>
            <a:ext cx="12184452" cy="449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0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" y="287638"/>
            <a:ext cx="11785120" cy="644166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2.2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Модель бизнес-процесса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«контроль и учёт внеурочных мероприятий»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в нотации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BPMN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460" y="931804"/>
            <a:ext cx="11654981" cy="5245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 smtClean="0"/>
              <a:t>Второй вариант развития внеурочного мероприятия в школе</a:t>
            </a:r>
          </a:p>
          <a:p>
            <a:pPr marL="0" indent="0">
              <a:buNone/>
            </a:pPr>
            <a:endParaRPr lang="ru-RU" sz="1400" dirty="0"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514"/>
            <a:ext cx="12197917" cy="437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0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" y="287638"/>
            <a:ext cx="11785120" cy="64416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3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. Диаграмма реализации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приложений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организации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ГБОУ Школа №1400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в нотации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ArchiMate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7" y="931804"/>
            <a:ext cx="9396786" cy="541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1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" y="287638"/>
            <a:ext cx="11785120" cy="64416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4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. Многослойная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as-is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модель архитектуры функциональной области </a:t>
            </a:r>
            <a:r>
              <a:rPr lang="ru-RU" sz="2400" b="1" dirty="0" smtClean="0">
                <a:solidFill>
                  <a:srgbClr val="0069AF"/>
                </a:solidFill>
                <a:latin typeface="PT Sans" panose="020B0503020203020204"/>
              </a:rPr>
              <a:t>«Проведение внеурочных мероприятий»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в нотации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ArchiMate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391" y="931804"/>
            <a:ext cx="5021760" cy="52451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Слабые места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удобное взаимодействие вне корпуса школы</a:t>
            </a: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Многообразие систем для проверки статуса мероприятия</a:t>
            </a: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сводки мероприятий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sz="1400" dirty="0"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3074" name="Picture 2" descr="Многослойная модель архитектур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989" y="922054"/>
            <a:ext cx="5576637" cy="560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67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61" y="287638"/>
            <a:ext cx="11854132" cy="644166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5. Оценка цифровой зрелости функциональной области «Проведение внеурочных мероприятий» организации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0A4B15A-BC04-46DA-9382-C03BF39A3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5040" y="1211072"/>
            <a:ext cx="5995846" cy="4856163"/>
          </a:xfrm>
        </p:spPr>
        <p:txBody>
          <a:bodyPr>
            <a:normAutofit/>
          </a:bodyPr>
          <a:lstStyle/>
          <a:p>
            <a:pPr marL="0" indent="0">
              <a:spcAft>
                <a:spcPts val="3600"/>
              </a:spcAft>
              <a:buNone/>
            </a:pPr>
            <a:r>
              <a:rPr lang="ru-RU" sz="2400" dirty="0" smtClean="0"/>
              <a:t>Вывод</a:t>
            </a:r>
            <a:r>
              <a:rPr lang="en-US" sz="2400" dirty="0" smtClean="0"/>
              <a:t>: </a:t>
            </a:r>
          </a:p>
          <a:p>
            <a:pPr>
              <a:spcAft>
                <a:spcPts val="3600"/>
              </a:spcAft>
              <a:buFont typeface="Wingdings" panose="05000000000000000000" pitchFamily="2" charset="2"/>
              <a:buChar char="§"/>
            </a:pPr>
            <a:r>
              <a:rPr lang="ru-RU" sz="2400" dirty="0" smtClean="0"/>
              <a:t>Низкий уровень цифровой зрелости почты</a:t>
            </a:r>
          </a:p>
          <a:p>
            <a:pPr>
              <a:spcAft>
                <a:spcPts val="3600"/>
              </a:spcAft>
              <a:buFont typeface="Wingdings" panose="05000000000000000000" pitchFamily="2" charset="2"/>
              <a:buChar char="§"/>
            </a:pPr>
            <a:r>
              <a:rPr lang="ru-RU" sz="2400" dirty="0" smtClean="0"/>
              <a:t>Отсутствие технологий</a:t>
            </a:r>
          </a:p>
          <a:p>
            <a:pPr>
              <a:spcAft>
                <a:spcPts val="3600"/>
              </a:spcAft>
              <a:buFont typeface="Wingdings" panose="05000000000000000000" pitchFamily="2" charset="2"/>
              <a:buChar char="§"/>
            </a:pPr>
            <a:r>
              <a:rPr lang="ru-RU" sz="2400" dirty="0" smtClean="0"/>
              <a:t>Сферум имеет больший потенциал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22345"/>
              </p:ext>
            </p:extLst>
          </p:nvPr>
        </p:nvGraphicFramePr>
        <p:xfrm>
          <a:off x="180462" y="1320800"/>
          <a:ext cx="5598004" cy="39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01">
                  <a:extLst>
                    <a:ext uri="{9D8B030D-6E8A-4147-A177-3AD203B41FA5}">
                      <a16:colId xmlns:a16="http://schemas.microsoft.com/office/drawing/2014/main" val="3673819186"/>
                    </a:ext>
                  </a:extLst>
                </a:gridCol>
                <a:gridCol w="1399501">
                  <a:extLst>
                    <a:ext uri="{9D8B030D-6E8A-4147-A177-3AD203B41FA5}">
                      <a16:colId xmlns:a16="http://schemas.microsoft.com/office/drawing/2014/main" val="1657057054"/>
                    </a:ext>
                  </a:extLst>
                </a:gridCol>
                <a:gridCol w="1399501">
                  <a:extLst>
                    <a:ext uri="{9D8B030D-6E8A-4147-A177-3AD203B41FA5}">
                      <a16:colId xmlns:a16="http://schemas.microsoft.com/office/drawing/2014/main" val="3824822021"/>
                    </a:ext>
                  </a:extLst>
                </a:gridCol>
                <a:gridCol w="1399501">
                  <a:extLst>
                    <a:ext uri="{9D8B030D-6E8A-4147-A177-3AD203B41FA5}">
                      <a16:colId xmlns:a16="http://schemas.microsoft.com/office/drawing/2014/main" val="3967008896"/>
                    </a:ext>
                  </a:extLst>
                </a:gridCol>
              </a:tblGrid>
              <a:tr h="62452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Критерии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Почта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Сферум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ЭЖД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3715274"/>
                  </a:ext>
                </a:extLst>
              </a:tr>
              <a:tr h="639423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Эксплуатация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311210"/>
                  </a:ext>
                </a:extLst>
              </a:tr>
              <a:tr h="666162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Разработка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563681"/>
                  </a:ext>
                </a:extLst>
              </a:tr>
              <a:tr h="666162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Технологии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72838"/>
                  </a:ext>
                </a:extLst>
              </a:tr>
              <a:tr h="666162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Архитектура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соответствует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986905"/>
                  </a:ext>
                </a:extLst>
              </a:tr>
              <a:tr h="699964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Итоговая оценка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Низкая (33%)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 (66%)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 (66%)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570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48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61" y="287638"/>
            <a:ext cx="11854132" cy="644166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rgbClr val="0069AF"/>
                </a:solidFill>
                <a:latin typeface="PT Sans" panose="020B0503020203020204"/>
              </a:rPr>
              <a:t>6. Постановка задачи на разработку проекта архитектурного решения по цифровой трансформации процесса </a:t>
            </a:r>
            <a:r>
              <a:rPr lang="ru-RU" sz="2000" b="1" dirty="0" smtClean="0">
                <a:solidFill>
                  <a:srgbClr val="0069AF"/>
                </a:solidFill>
                <a:latin typeface="PT Sans" panose="020B0503020203020204"/>
              </a:rPr>
              <a:t>«Учета </a:t>
            </a:r>
            <a:r>
              <a:rPr lang="ru-RU" sz="2000" b="1" dirty="0">
                <a:solidFill>
                  <a:srgbClr val="0069AF"/>
                </a:solidFill>
                <a:latin typeface="PT Sans" panose="020B0503020203020204"/>
              </a:rPr>
              <a:t>и контроля внеурочных мероприятий</a:t>
            </a:r>
            <a:r>
              <a:rPr lang="ru-RU" sz="2000" b="1" dirty="0" smtClean="0">
                <a:solidFill>
                  <a:srgbClr val="0069AF"/>
                </a:solidFill>
                <a:latin typeface="PT Sans" panose="020B0503020203020204"/>
              </a:rPr>
              <a:t>»</a:t>
            </a:r>
            <a:endParaRPr lang="ru-RU" sz="20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461" y="931804"/>
            <a:ext cx="5598006" cy="5245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Недостатки </a:t>
            </a: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БП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удобное взаимодействие вне корпуса школы</a:t>
            </a: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Многообразие систем для проверки статуса мероприятия</a:t>
            </a:r>
          </a:p>
          <a:p>
            <a:pPr marL="342900" indent="-342900">
              <a:lnSpc>
                <a:spcPct val="100000"/>
              </a:lnSpc>
              <a:spcAft>
                <a:spcPts val="4200"/>
              </a:spcAft>
              <a:buFont typeface="+mj-lt"/>
              <a:buAutoNum type="arabicPeriod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сводки </a:t>
            </a:r>
            <a:r>
              <a:rPr lang="ru-RU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мероприятий</a:t>
            </a:r>
            <a:endParaRPr lang="en-US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Предлагаемое 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решение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ru-RU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ИС, включающая в себя </a:t>
            </a:r>
            <a:r>
              <a:rPr lang="ru-RU" sz="1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десктопное</a:t>
            </a:r>
            <a:r>
              <a:rPr lang="ru-RU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приложение и телеграмм-бота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0A4B15A-BC04-46DA-9382-C03BF39A3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8607" y="931804"/>
            <a:ext cx="5995846" cy="5245160"/>
          </a:xfrm>
        </p:spPr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ru-RU" sz="2400" dirty="0"/>
              <a:t>Функциональные требования к ИС</a:t>
            </a:r>
            <a:r>
              <a:rPr lang="en-US" sz="2400" dirty="0"/>
              <a:t>:</a:t>
            </a:r>
          </a:p>
          <a:p>
            <a:pPr>
              <a:spcAft>
                <a:spcPts val="1800"/>
              </a:spcAft>
            </a:pPr>
            <a:r>
              <a:rPr lang="ru-RU" sz="2400" dirty="0"/>
              <a:t>Регистрация </a:t>
            </a:r>
            <a:r>
              <a:rPr lang="ru-RU" sz="2400" dirty="0" smtClean="0"/>
              <a:t>мероприятий</a:t>
            </a:r>
            <a:endParaRPr lang="en-US" sz="2400" dirty="0" smtClean="0"/>
          </a:p>
          <a:p>
            <a:pPr>
              <a:spcAft>
                <a:spcPts val="1800"/>
              </a:spcAft>
            </a:pPr>
            <a:r>
              <a:rPr lang="ru-RU" sz="2400" dirty="0"/>
              <a:t>Управление участниками</a:t>
            </a:r>
            <a:endParaRPr lang="ru-RU" sz="2400" dirty="0" smtClean="0"/>
          </a:p>
          <a:p>
            <a:pPr>
              <a:spcAft>
                <a:spcPts val="1800"/>
              </a:spcAft>
            </a:pPr>
            <a:r>
              <a:rPr lang="ru-RU" sz="2400" dirty="0" smtClean="0"/>
              <a:t>Генерация отчета по мероприятию</a:t>
            </a:r>
          </a:p>
          <a:p>
            <a:pPr>
              <a:spcAft>
                <a:spcPts val="1800"/>
              </a:spcAft>
            </a:pPr>
            <a:r>
              <a:rPr lang="ru-RU" sz="2400" dirty="0"/>
              <a:t>Резервное копирование и восстановление данных</a:t>
            </a:r>
            <a:endParaRPr lang="ru-RU" sz="2400" dirty="0" smtClean="0"/>
          </a:p>
          <a:p>
            <a:pPr>
              <a:spcAft>
                <a:spcPts val="1800"/>
              </a:spcAft>
            </a:pPr>
            <a:r>
              <a:rPr lang="ru-RU" sz="2400" dirty="0"/>
              <a:t>Конфиденциальность и безопасность</a:t>
            </a:r>
          </a:p>
          <a:p>
            <a:pPr marL="0" indent="0">
              <a:buNone/>
            </a:pPr>
            <a:endParaRPr lang="ru-RU" sz="1400" dirty="0">
              <a:latin typeface="PT Sans" panose="020B0503020203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</p:spTree>
    <p:extLst>
      <p:ext uri="{BB962C8B-B14F-4D97-AF65-F5344CB8AC3E}">
        <p14:creationId xmlns:p14="http://schemas.microsoft.com/office/powerpoint/2010/main" val="33630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1" y="287639"/>
            <a:ext cx="10416293" cy="64416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7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. Многослойная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to-be </a:t>
            </a:r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модель архитектуры функциональной области «Проведение внеурочных мероприятий» в нотации </a:t>
            </a:r>
            <a:r>
              <a:rPr lang="en-US" sz="2400" b="1" dirty="0">
                <a:solidFill>
                  <a:srgbClr val="0069AF"/>
                </a:solidFill>
                <a:latin typeface="PT Sans" panose="020B0503020203020204"/>
              </a:rPr>
              <a:t>ArchiMate</a:t>
            </a:r>
            <a:endParaRPr lang="ru-RU" sz="2400" b="1" dirty="0">
              <a:solidFill>
                <a:srgbClr val="0069AF"/>
              </a:solidFill>
              <a:latin typeface="PT Sans" panose="020B050302020302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A4F96-3D92-467A-8188-36E31EEFF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461" y="1175657"/>
            <a:ext cx="3607949" cy="5001306"/>
          </a:xfrm>
        </p:spPr>
        <p:txBody>
          <a:bodyPr>
            <a:normAutofit/>
          </a:bodyPr>
          <a:lstStyle/>
          <a:p>
            <a:pPr>
              <a:spcAft>
                <a:spcPts val="4200"/>
              </a:spcAft>
              <a:buFont typeface="Wingdings" panose="05000000000000000000" pitchFamily="2" charset="2"/>
              <a:buChar char="§"/>
            </a:pPr>
            <a:r>
              <a:rPr lang="ru-RU" sz="2000" dirty="0" smtClean="0"/>
              <a:t>Покрытие всех внутренних процессов</a:t>
            </a:r>
          </a:p>
          <a:p>
            <a:pPr>
              <a:spcAft>
                <a:spcPts val="4200"/>
              </a:spcAft>
              <a:buFont typeface="Wingdings" panose="05000000000000000000" pitchFamily="2" charset="2"/>
              <a:buChar char="§"/>
            </a:pPr>
            <a:r>
              <a:rPr lang="ru-RU" sz="2000" dirty="0" smtClean="0"/>
              <a:t>Дополнение,  а не замена</a:t>
            </a:r>
          </a:p>
          <a:p>
            <a:pPr>
              <a:spcAft>
                <a:spcPts val="4200"/>
              </a:spcAft>
              <a:buFont typeface="Wingdings" panose="05000000000000000000" pitchFamily="2" charset="2"/>
              <a:buChar char="§"/>
            </a:pPr>
            <a:r>
              <a:rPr lang="ru-RU" sz="2000" dirty="0" smtClean="0"/>
              <a:t>Учёт и контроль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2050" name="Picture 2" descr="Многослойная модель архитектуры с приложение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410" y="931803"/>
            <a:ext cx="774382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70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8EE7CF-926F-1A1F-F3D0-76F90C3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1" y="287639"/>
            <a:ext cx="6238336" cy="644166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0069AF"/>
                </a:solidFill>
                <a:latin typeface="PT Sans" panose="020B0503020203020204"/>
              </a:rPr>
              <a:t>8. Программная архитектура решения</a:t>
            </a:r>
            <a:endParaRPr lang="ru-RU" sz="2400" b="1" dirty="0">
              <a:solidFill>
                <a:srgbClr val="FF0000"/>
              </a:solidFill>
              <a:latin typeface="PT Sans" panose="020B0503020203020204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0A4B15A-BC04-46DA-9382-C03BF39A3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0468" y="5788324"/>
            <a:ext cx="5978106" cy="388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PT Sans" panose="020B0503020203020204"/>
              </a:rPr>
              <a:t>Текстовое поле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22DBE-2D77-50A7-F84E-EDFD6E94D7D9}"/>
              </a:ext>
            </a:extLst>
          </p:cNvPr>
          <p:cNvSpPr txBox="1"/>
          <p:nvPr/>
        </p:nvSpPr>
        <p:spPr>
          <a:xfrm>
            <a:off x="-27742" y="6611779"/>
            <a:ext cx="5598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Национальная конференция «Информационные технологии и интеллектуальные системы», 2024 г.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7" y="871537"/>
            <a:ext cx="84296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4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AE5CDD-1111-37B1-0E25-CCE014A10F68}"/>
              </a:ext>
            </a:extLst>
          </p:cNvPr>
          <p:cNvSpPr txBox="1"/>
          <p:nvPr/>
        </p:nvSpPr>
        <p:spPr>
          <a:xfrm>
            <a:off x="0" y="6522363"/>
            <a:ext cx="961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PT Sans" panose="020B0503020203020204" pitchFamily="34" charset="-52"/>
              </a:rPr>
              <a:t>Москва, </a:t>
            </a:r>
            <a:r>
              <a:rPr lang="ru-RU" sz="1600" b="1" dirty="0" smtClean="0">
                <a:solidFill>
                  <a:schemeClr val="bg1">
                    <a:lumMod val="75000"/>
                  </a:schemeClr>
                </a:solidFill>
                <a:latin typeface="PT Sans" panose="020B0503020203020204" pitchFamily="34" charset="-52"/>
              </a:rPr>
              <a:t>27 </a:t>
            </a:r>
            <a:r>
              <a:rPr lang="ru-RU" sz="1600" b="1" dirty="0">
                <a:solidFill>
                  <a:schemeClr val="bg1">
                    <a:lumMod val="75000"/>
                  </a:schemeClr>
                </a:solidFill>
                <a:latin typeface="PT Sans" panose="020B0503020203020204" pitchFamily="34" charset="-52"/>
              </a:rPr>
              <a:t>марта 2024 г.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E4B51-24B0-76A3-4FFA-1BB9A747BFCB}"/>
              </a:ext>
            </a:extLst>
          </p:cNvPr>
          <p:cNvSpPr txBox="1"/>
          <p:nvPr/>
        </p:nvSpPr>
        <p:spPr>
          <a:xfrm>
            <a:off x="2337757" y="2847897"/>
            <a:ext cx="9454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PT Sans" panose="020B0503020203020204" pitchFamily="34" charset="-52"/>
              </a:rPr>
              <a:t>Благодарю за внимание.</a:t>
            </a:r>
            <a:endParaRPr lang="ru-RU" sz="3600" b="1" dirty="0">
              <a:solidFill>
                <a:srgbClr val="FFFF00"/>
              </a:solidFill>
              <a:latin typeface="PT Sans" panose="020B0503020203020204" pitchFamily="34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F4496-22A5-7DA8-14E6-7BD5686B8A10}"/>
              </a:ext>
            </a:extLst>
          </p:cNvPr>
          <p:cNvSpPr txBox="1"/>
          <p:nvPr/>
        </p:nvSpPr>
        <p:spPr>
          <a:xfrm>
            <a:off x="2337757" y="5723689"/>
            <a:ext cx="7049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Автор: </a:t>
            </a:r>
            <a:r>
              <a:rPr lang="ru-RU" sz="1200" i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Болдинов Алексей Валерьевич</a:t>
            </a:r>
            <a:endParaRPr lang="ru-RU" sz="1200" i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Руководитель: к.т.н., доцент, доцент кафедры </a:t>
            </a:r>
            <a:r>
              <a:rPr lang="ru-RU" sz="1200" dirty="0" smtClean="0">
                <a:solidFill>
                  <a:schemeClr val="bg1"/>
                </a:solidFill>
                <a:latin typeface="PT Sans" panose="020B0503020203020204" pitchFamily="34" charset="-52"/>
              </a:rPr>
              <a:t>цифровой трансформации </a:t>
            </a:r>
            <a:r>
              <a:rPr lang="ru-RU" sz="1200" dirty="0" err="1" smtClean="0">
                <a:solidFill>
                  <a:schemeClr val="bg1"/>
                </a:solidFill>
                <a:latin typeface="PT Sans" panose="020B0503020203020204" pitchFamily="34" charset="-52"/>
              </a:rPr>
              <a:t>Дзгоев</a:t>
            </a:r>
            <a:r>
              <a:rPr lang="ru-RU" sz="1200" dirty="0" smtClean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Алан </a:t>
            </a:r>
            <a:r>
              <a:rPr lang="ru-RU" sz="1200" dirty="0" smtClean="0">
                <a:solidFill>
                  <a:schemeClr val="bg1"/>
                </a:solidFill>
                <a:latin typeface="PT Sans" panose="020B0503020203020204" pitchFamily="34" charset="-52"/>
              </a:rPr>
              <a:t>Эдуардович</a:t>
            </a:r>
            <a:endParaRPr lang="ru-RU" sz="1200" i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9B748-8080-F9D8-E83A-006045E83C39}"/>
              </a:ext>
            </a:extLst>
          </p:cNvPr>
          <p:cNvSpPr txBox="1"/>
          <p:nvPr/>
        </p:nvSpPr>
        <p:spPr>
          <a:xfrm>
            <a:off x="2337758" y="335637"/>
            <a:ext cx="9854241" cy="53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МИРЭА- Российский технологический университет</a:t>
            </a:r>
          </a:p>
          <a:p>
            <a:pPr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Институт кибербезопасности и цифровых технологий</a:t>
            </a:r>
          </a:p>
          <a:p>
            <a:pPr>
              <a:lnSpc>
                <a:spcPct val="80000"/>
              </a:lnSpc>
            </a:pPr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Кафедра «Предметно-ориентированные информационные системы»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7EA906B-7495-4015-AA52-41BCA1C3C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21" y="2532367"/>
            <a:ext cx="1793265" cy="179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579</Words>
  <Application>Microsoft Office PowerPoint</Application>
  <PresentationFormat>Широкоэкранный</PresentationFormat>
  <Paragraphs>125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PT Sans</vt:lpstr>
      <vt:lpstr>Times New Roman</vt:lpstr>
      <vt:lpstr>Wingdings</vt:lpstr>
      <vt:lpstr>Тема Office</vt:lpstr>
      <vt:lpstr>Презентация PowerPoint</vt:lpstr>
      <vt:lpstr>1. Характеристика ГБОУ Школа №1400 </vt:lpstr>
      <vt:lpstr>2.1 Модель бизнес-процесса «контроль и учёт внеурочных мероприятий» в нотации BPMN</vt:lpstr>
      <vt:lpstr>2.2 Модель бизнес-процесса «контроль и учёт внеурочных мероприятий» в нотации BPMN</vt:lpstr>
      <vt:lpstr>3. Диаграмма реализации приложений организации ГБОУ Школа №1400 в нотации ArchiMate</vt:lpstr>
      <vt:lpstr>4. Многослойная as-is модель архитектуры функциональной области «Проведение внеурочных мероприятий» в нотации ArchiMate</vt:lpstr>
      <vt:lpstr>5. Оценка цифровой зрелости функциональной области «Проведение внеурочных мероприятий» организации</vt:lpstr>
      <vt:lpstr>6. Постановка задачи на разработку проекта архитектурного решения по цифровой трансформации процесса «Учета и контроля внеурочных мероприятий»</vt:lpstr>
      <vt:lpstr>7. Многослойная to-be модель архитектуры функциональной области «Проведение внеурочных мероприятий» в нотации ArchiMate</vt:lpstr>
      <vt:lpstr>8. Программная архитектура решения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Anna Zueva</dc:creator>
  <cp:lastModifiedBy>Алексей Болдинов</cp:lastModifiedBy>
  <cp:revision>59</cp:revision>
  <dcterms:created xsi:type="dcterms:W3CDTF">2023-12-25T20:45:26Z</dcterms:created>
  <dcterms:modified xsi:type="dcterms:W3CDTF">2024-05-18T01:04:43Z</dcterms:modified>
</cp:coreProperties>
</file>