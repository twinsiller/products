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308" r:id="rId2"/>
    <p:sldId id="286" r:id="rId3"/>
    <p:sldId id="287" r:id="rId4"/>
    <p:sldId id="288" r:id="rId5"/>
    <p:sldId id="290" r:id="rId6"/>
    <p:sldId id="311" r:id="rId7"/>
    <p:sldId id="312" r:id="rId8"/>
    <p:sldId id="314" r:id="rId9"/>
    <p:sldId id="313" r:id="rId10"/>
    <p:sldId id="31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33"/>
    <a:srgbClr val="FFC000"/>
    <a:srgbClr val="A50021"/>
    <a:srgbClr val="C8352A"/>
    <a:srgbClr val="D54516"/>
    <a:srgbClr val="A667A4"/>
    <a:srgbClr val="EB6C15"/>
    <a:srgbClr val="7030A0"/>
    <a:srgbClr val="128618"/>
    <a:srgbClr val="BB3C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6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6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C4BE7-729F-4801-82CE-EFD2DDB90BE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DF08C-262C-49F9-9D08-C4B0BF3F2E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59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371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77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120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3340-93CB-73AD-69CF-6A86C566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8A16DCE-9D31-E9E0-FF80-6C4049A02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C05667-6C4E-0752-896D-03503C725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ED0548-B156-B5A0-A6EC-791D8A1B4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013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14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C729-0733-4E16-8E4F-B419F822ED0C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40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0F91-A45E-4CCE-98AD-8F09BCB7DC9C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06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DC00A-E643-4BC5-9F5A-6D5527C62705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78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60DB-A61C-47F7-AE67-20E126E04860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86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E0E3-50B6-4D45-92A0-64D6746557B0}" type="datetime1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25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F6FE-4BDF-4CCF-BAE3-55CDD458F053}" type="datetime1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12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5C456-F0FF-4428-8589-E27781254176}" type="datetime1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24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8B4B-6141-40EB-8E5D-79FF2BF43C63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89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01D2-B515-4348-A88C-804677893D99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07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7004-E57E-45AF-AD04-AA125E4373AF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8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6520-0F81-41F8-9469-F3E886E4E5F2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41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8FD1B-FAAD-40BF-8F61-5F9F75D5E4A0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15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D50311-0739-708B-A71A-994007FB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967CB3-A19D-5FB0-7A0E-F5979DD29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117" y="227136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3">
            <a:extLst>
              <a:ext uri="{FF2B5EF4-FFF2-40B4-BE49-F238E27FC236}">
                <a16:creationId xmlns:a16="http://schemas.microsoft.com/office/drawing/2014/main" id="{6E34AF28-265F-7059-EC54-89AB0A03D7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978281-6D7E-647D-E80C-E0953A2BA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09" y="0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57FD030-8FB2-9B21-11FD-8C5FDAD1C09D}"/>
              </a:ext>
            </a:extLst>
          </p:cNvPr>
          <p:cNvSpPr>
            <a:spLocks noGrp="1"/>
          </p:cNvSpPr>
          <p:nvPr/>
        </p:nvSpPr>
        <p:spPr>
          <a:xfrm>
            <a:off x="1335301" y="761247"/>
            <a:ext cx="9351146" cy="1490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0" lang="ru-RU" sz="20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AD723-5E7C-F124-FFA4-E1B4B9D409FF}"/>
              </a:ext>
            </a:extLst>
          </p:cNvPr>
          <p:cNvSpPr txBox="1"/>
          <p:nvPr/>
        </p:nvSpPr>
        <p:spPr>
          <a:xfrm>
            <a:off x="2232564" y="2139620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перспективных технологий и индустриального программирования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3CA03-E30D-D398-01B1-2F6DA2F824EB}"/>
              </a:ext>
            </a:extLst>
          </p:cNvPr>
          <p:cNvSpPr txBox="1"/>
          <p:nvPr/>
        </p:nvSpPr>
        <p:spPr>
          <a:xfrm>
            <a:off x="3048734" y="245459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индустриального программирования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2AA8C-9BF1-3D87-0421-E83F25C6CA77}"/>
              </a:ext>
            </a:extLst>
          </p:cNvPr>
          <p:cNvSpPr txBox="1"/>
          <p:nvPr/>
        </p:nvSpPr>
        <p:spPr>
          <a:xfrm>
            <a:off x="2142527" y="2729056"/>
            <a:ext cx="74862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«Автоматизация процессов персонализированного подбора продуктов питания в сегменте электронной коммерции на основе алгоритмов расчета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нутриентного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профиля и интеллектуального анализа потребительской корзины»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42DA4-3271-33A5-A3B1-D8C2BE117100}"/>
              </a:ext>
            </a:extLst>
          </p:cNvPr>
          <p:cNvSpPr txBox="1"/>
          <p:nvPr/>
        </p:nvSpPr>
        <p:spPr>
          <a:xfrm>
            <a:off x="6010874" y="3636080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Подготовил: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студент группы ЭФМО-02-</a:t>
            </a:r>
            <a:r>
              <a:rPr lang="en-US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4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Болдинов А.В.</a:t>
            </a:r>
          </a:p>
          <a:p>
            <a:pPr algn="r"/>
            <a:endParaRPr lang="ru-RU" alt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д.т.н., профессор кафедры индустриального программирования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Хоменко Т.В.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12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1793782" y="198735"/>
            <a:ext cx="769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Актуальность исследования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0C8AA5ED-3AF3-D061-42FF-DBA956A1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0722" y="6558272"/>
            <a:ext cx="2743200" cy="365125"/>
          </a:xfrm>
        </p:spPr>
        <p:txBody>
          <a:bodyPr/>
          <a:lstStyle/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13EA827-9C39-0B73-954E-D0D7C4377D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02336" y="1754409"/>
            <a:ext cx="11789664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 indent="450850" eaLnBrk="0" fontAlgn="base" hangingPunct="0"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4863" algn="l"/>
              </a:tabLst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механизмов контроля </a:t>
            </a:r>
            <a:r>
              <a:rPr lang="ru-RU" alt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нутриентного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состава «в моменте» покупки. Потребитель совершает выбор стихийно, что ведет к дефициту или избытку </a:t>
            </a:r>
            <a:r>
              <a:rPr lang="ru-RU" alt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макронутриентов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 indent="450850" eaLnBrk="0" fontAlgn="base" hangingPunct="0"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4863" algn="l"/>
              </a:tabLst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Последствия: 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алиментарно-зависимых заболеваний (диабет, ожирение, сердечно-сосудистые патологии).</a:t>
            </a:r>
          </a:p>
          <a:p>
            <a:pPr marL="0" lvl="1" indent="450850" eaLnBrk="0" fontAlgn="base" hangingPunct="0"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4863" algn="l"/>
              </a:tabLst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Государственная задача: 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цифровых инструментов для реализации целей нацпроекта «Здравоохранение» по увеличению продолжительности жизни.</a:t>
            </a:r>
            <a:endParaRPr kumimoji="0" lang="ru-RU" altLang="ru-R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62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0367ED-9F01-0B12-28F0-0D43377E50D5}"/>
              </a:ext>
            </a:extLst>
          </p:cNvPr>
          <p:cNvSpPr txBox="1"/>
          <p:nvPr/>
        </p:nvSpPr>
        <p:spPr>
          <a:xfrm>
            <a:off x="170792" y="2155365"/>
            <a:ext cx="274822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формирования предлагаемых блюд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580AD-403B-A28B-1BC8-5B226957E890}"/>
              </a:ext>
            </a:extLst>
          </p:cNvPr>
          <p:cNvSpPr txBox="1"/>
          <p:nvPr/>
        </p:nvSpPr>
        <p:spPr>
          <a:xfrm>
            <a:off x="2919021" y="2155365"/>
            <a:ext cx="34774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алгоритмы интеллектуальной поддержки выбора продуктов питания на основе предпочтений пользователя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E46E3-3CDA-2080-586D-69AA3AE73E80}"/>
              </a:ext>
            </a:extLst>
          </p:cNvPr>
          <p:cNvSpPr txBox="1"/>
          <p:nvPr/>
        </p:nvSpPr>
        <p:spPr>
          <a:xfrm>
            <a:off x="1304640" y="4498843"/>
            <a:ext cx="3729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Цель исследования: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эффективности формирования рациона питания граждан путем персонализированного подбора блюд на основе выбранных товарных позиций </a:t>
            </a:r>
          </a:p>
        </p:txBody>
      </p: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4754915A-9555-9DAD-6AC6-720688DB513F}"/>
              </a:ext>
            </a:extLst>
          </p:cNvPr>
          <p:cNvSpPr/>
          <p:nvPr/>
        </p:nvSpPr>
        <p:spPr>
          <a:xfrm rot="16200000">
            <a:off x="5359032" y="4575370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Стрелка: вниз 26">
            <a:extLst>
              <a:ext uri="{FF2B5EF4-FFF2-40B4-BE49-F238E27FC236}">
                <a16:creationId xmlns:a16="http://schemas.microsoft.com/office/drawing/2014/main" id="{6508A563-5FD2-A415-7211-E7CC7B7B72D5}"/>
              </a:ext>
            </a:extLst>
          </p:cNvPr>
          <p:cNvSpPr/>
          <p:nvPr/>
        </p:nvSpPr>
        <p:spPr>
          <a:xfrm rot="16200000">
            <a:off x="5551983" y="5147741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F0636C-411D-9B26-D6C7-998C0095FB93}"/>
              </a:ext>
            </a:extLst>
          </p:cNvPr>
          <p:cNvSpPr/>
          <p:nvPr/>
        </p:nvSpPr>
        <p:spPr>
          <a:xfrm>
            <a:off x="6410850" y="1368044"/>
            <a:ext cx="5683516" cy="5448743"/>
          </a:xfrm>
          <a:prstGeom prst="rect">
            <a:avLst/>
          </a:prstGeom>
          <a:noFill/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текущие бизнес-процессы формирования заказов в интернет-магазинах продуктов питания.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планируемый бизнес-процесс формирования заказов в интернет-магазинах продуктов питания.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прототип предлагаемого решения.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текущего подхода с подходом с предлагаемым решением</a:t>
            </a:r>
          </a:p>
        </p:txBody>
      </p:sp>
      <p:pic>
        <p:nvPicPr>
          <p:cNvPr id="11" name="Рисунок 10" descr="Контрольный список со сплошной заливкой">
            <a:extLst>
              <a:ext uri="{FF2B5EF4-FFF2-40B4-BE49-F238E27FC236}">
                <a16:creationId xmlns:a16="http://schemas.microsoft.com/office/drawing/2014/main" id="{20C57834-31C8-2990-4C00-4E80AAF0C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240" y="4421513"/>
            <a:ext cx="914400" cy="914400"/>
          </a:xfrm>
          <a:prstGeom prst="rect">
            <a:avLst/>
          </a:prstGeom>
        </p:spPr>
      </p:pic>
      <p:pic>
        <p:nvPicPr>
          <p:cNvPr id="14" name="Рисунок 13" descr="Мозговой штурм группы контур">
            <a:extLst>
              <a:ext uri="{FF2B5EF4-FFF2-40B4-BE49-F238E27FC236}">
                <a16:creationId xmlns:a16="http://schemas.microsoft.com/office/drawing/2014/main" id="{2690B789-8FDB-CA9C-35C9-1A6ED1B07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3738" y="1340657"/>
            <a:ext cx="914400" cy="914400"/>
          </a:xfrm>
          <a:prstGeom prst="rect">
            <a:avLst/>
          </a:prstGeom>
        </p:spPr>
      </p:pic>
      <p:pic>
        <p:nvPicPr>
          <p:cNvPr id="16" name="Рисунок 15" descr="Человек с идеей контур">
            <a:extLst>
              <a:ext uri="{FF2B5EF4-FFF2-40B4-BE49-F238E27FC236}">
                <a16:creationId xmlns:a16="http://schemas.microsoft.com/office/drawing/2014/main" id="{DBDC358A-A0FF-EB72-DB68-1FB6ACBD10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215" y="1322235"/>
            <a:ext cx="914400" cy="914400"/>
          </a:xfrm>
          <a:prstGeom prst="rect">
            <a:avLst/>
          </a:prstGeom>
        </p:spPr>
      </p:pic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58A11DEF-0A9A-9AA3-A31A-F893ED81C44F}"/>
              </a:ext>
            </a:extLst>
          </p:cNvPr>
          <p:cNvSpPr/>
          <p:nvPr/>
        </p:nvSpPr>
        <p:spPr>
          <a:xfrm rot="16200000">
            <a:off x="5263497" y="5653690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Номер слайда 20">
            <a:extLst>
              <a:ext uri="{FF2B5EF4-FFF2-40B4-BE49-F238E27FC236}">
                <a16:creationId xmlns:a16="http://schemas.microsoft.com/office/drawing/2014/main" id="{33703662-1EA5-8FF1-C528-53222D19C6DE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6E7A50-3B8A-EA5A-CD8E-B1FE882F458C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48657-7791-6035-CB38-25CA240E24CD}"/>
              </a:ext>
            </a:extLst>
          </p:cNvPr>
          <p:cNvSpPr txBox="1"/>
          <p:nvPr/>
        </p:nvSpPr>
        <p:spPr>
          <a:xfrm>
            <a:off x="-1160734" y="69932"/>
            <a:ext cx="105487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Объект, предмет, цель </a:t>
            </a:r>
          </a:p>
          <a:p>
            <a:pPr algn="ctr"/>
            <a:r>
              <a:rPr lang="ru-RU" sz="4000" dirty="0">
                <a:cs typeface="Times New Roman" panose="02020603050405020304" pitchFamily="18" charset="0"/>
              </a:rPr>
              <a:t>и задачи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727BAA-9DA8-25E7-7AEE-DCB33996CF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8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608816" y="0"/>
            <a:ext cx="1583184" cy="6858000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FFC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648C70-7882-4544-9C67-BFB2751989B6}"/>
              </a:ext>
            </a:extLst>
          </p:cNvPr>
          <p:cNvSpPr txBox="1"/>
          <p:nvPr/>
        </p:nvSpPr>
        <p:spPr>
          <a:xfrm>
            <a:off x="1833544" y="107980"/>
            <a:ext cx="7453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8" name="Номер слайда 20">
            <a:extLst>
              <a:ext uri="{FF2B5EF4-FFF2-40B4-BE49-F238E27FC236}">
                <a16:creationId xmlns:a16="http://schemas.microsoft.com/office/drawing/2014/main" id="{7DB8EF2C-11E4-194C-1F59-DF22F6BD33DC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ru-RU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34067" y="1294766"/>
            <a:ext cx="8896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AS-IS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текущего бизнес-процесса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34067" y="2432827"/>
            <a:ext cx="88961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TO-BE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для изменения текущего бизнес-процесса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40156" y="4212929"/>
            <a:ext cx="98840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Предлагаемое решение для решения заданной проблемы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55500" y="5908100"/>
            <a:ext cx="102533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двух подходов (Без и С решением)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 вниз 7"/>
          <p:cNvSpPr/>
          <p:nvPr/>
        </p:nvSpPr>
        <p:spPr>
          <a:xfrm>
            <a:off x="4634497" y="2054947"/>
            <a:ext cx="1695322" cy="334065"/>
          </a:xfrm>
          <a:prstGeom prst="downArrow">
            <a:avLst/>
          </a:prstGeom>
          <a:solidFill>
            <a:srgbClr val="FFC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4634497" y="3685451"/>
            <a:ext cx="1695322" cy="334065"/>
          </a:xfrm>
          <a:prstGeom prst="downArrow">
            <a:avLst/>
          </a:prstGeom>
          <a:solidFill>
            <a:srgbClr val="FFC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низ 12"/>
          <p:cNvSpPr/>
          <p:nvPr/>
        </p:nvSpPr>
        <p:spPr>
          <a:xfrm>
            <a:off x="4634497" y="5483560"/>
            <a:ext cx="1695322" cy="334065"/>
          </a:xfrm>
          <a:prstGeom prst="downArrow">
            <a:avLst/>
          </a:prstGeom>
          <a:solidFill>
            <a:srgbClr val="FFC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09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cs typeface="Times New Roman" panose="02020603050405020304" pitchFamily="18" charset="0"/>
              </a:rPr>
              <a:t>AS-IS </a:t>
            </a:r>
            <a:r>
              <a:rPr lang="ru-RU" sz="4000" dirty="0">
                <a:cs typeface="Times New Roman" panose="02020603050405020304" pitchFamily="18" charset="0"/>
              </a:rPr>
              <a:t>модель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E8823C-084B-DCFB-2AB3-A5BA8E9EFF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4"/>
          <a:stretch>
            <a:fillRect/>
          </a:stretch>
        </p:blipFill>
        <p:spPr>
          <a:xfrm>
            <a:off x="756030" y="2267883"/>
            <a:ext cx="10413679" cy="365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56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cs typeface="Times New Roman" panose="02020603050405020304" pitchFamily="18" charset="0"/>
              </a:rPr>
              <a:t>TO-BE </a:t>
            </a:r>
            <a:r>
              <a:rPr lang="ru-RU" sz="4000" dirty="0">
                <a:cs typeface="Times New Roman" panose="02020603050405020304" pitchFamily="18" charset="0"/>
              </a:rPr>
              <a:t>модель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5A30E4-0FDF-DE9F-0BDB-524AD9C112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121920" y="2340344"/>
            <a:ext cx="11741643" cy="341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cs typeface="Times New Roman" panose="02020603050405020304" pitchFamily="18" charset="0"/>
              </a:rPr>
              <a:t>ER</a:t>
            </a:r>
            <a:r>
              <a:rPr lang="ru-RU" sz="4000" dirty="0">
                <a:cs typeface="Times New Roman" panose="02020603050405020304" pitchFamily="18" charset="0"/>
              </a:rPr>
              <a:t> </a:t>
            </a:r>
            <a:r>
              <a:rPr lang="en-US" sz="4000" dirty="0">
                <a:cs typeface="Times New Roman" panose="02020603050405020304" pitchFamily="18" charset="0"/>
              </a:rPr>
              <a:t>-</a:t>
            </a:r>
            <a:r>
              <a:rPr lang="ru-RU" sz="4000" dirty="0">
                <a:cs typeface="Times New Roman" panose="02020603050405020304" pitchFamily="18" charset="0"/>
              </a:rPr>
              <a:t> диаграмма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16E75E-681F-CD1D-9F90-AF335CAFC4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8C5E6D-67DA-5BDF-1167-EF0B63975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882" y="1312114"/>
            <a:ext cx="6713999" cy="547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1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4140-7806-5EF6-353A-237BAA30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58908D-AF4E-D45E-C945-5A462971E76D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F01AC65-9082-6FE7-B3C6-8F7F252D184A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954134F-0EBD-749C-A6A4-9114498A9019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CC8F8-AB70-AAA3-25B1-5D819B44ECB7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Рабочий прототип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C0E33B-39BF-856C-C350-E0D8CCDF2A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BCF155-D952-36C5-4334-645ED4EEA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93" y="1308486"/>
            <a:ext cx="11156014" cy="554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6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-40287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16E75E-681F-CD1D-9F90-AF335CAFC4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523800"/>
              </p:ext>
            </p:extLst>
          </p:nvPr>
        </p:nvGraphicFramePr>
        <p:xfrm>
          <a:off x="316992" y="1685337"/>
          <a:ext cx="11509248" cy="493491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98222">
                  <a:extLst>
                    <a:ext uri="{9D8B030D-6E8A-4147-A177-3AD203B41FA5}">
                      <a16:colId xmlns:a16="http://schemas.microsoft.com/office/drawing/2014/main" val="2534973396"/>
                    </a:ext>
                  </a:extLst>
                </a:gridCol>
                <a:gridCol w="4171161">
                  <a:extLst>
                    <a:ext uri="{9D8B030D-6E8A-4147-A177-3AD203B41FA5}">
                      <a16:colId xmlns:a16="http://schemas.microsoft.com/office/drawing/2014/main" val="1666061645"/>
                    </a:ext>
                  </a:extLst>
                </a:gridCol>
                <a:gridCol w="4839865">
                  <a:extLst>
                    <a:ext uri="{9D8B030D-6E8A-4147-A177-3AD203B41FA5}">
                      <a16:colId xmlns:a16="http://schemas.microsoft.com/office/drawing/2014/main" val="2967117557"/>
                    </a:ext>
                  </a:extLst>
                </a:gridCol>
              </a:tblGrid>
              <a:tr h="7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 сравнения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Текущий подход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 с использованием решения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extLst>
                  <a:ext uri="{0D108BD9-81ED-4DB2-BD59-A6C34878D82A}">
                    <a16:rowId xmlns:a16="http://schemas.microsoft.com/office/drawing/2014/main" val="2618833460"/>
                  </a:ext>
                </a:extLst>
              </a:tr>
              <a:tr h="109428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энергетической ценности (КБЖУ)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Выполняется пользователем вручную (или игнорируется)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Автоматический расчет всей корзины в режиме реального времени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extLst>
                  <a:ext uri="{0D108BD9-81ED-4DB2-BD59-A6C34878D82A}">
                    <a16:rowId xmlns:a16="http://schemas.microsoft.com/office/drawing/2014/main" val="1033761849"/>
                  </a:ext>
                </a:extLst>
              </a:tr>
              <a:tr h="7424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Подбор блюд (рецептов)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идей в сторонних источниках, не привязанных к покупкам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Мгновенное предложение рецептов на основе выбранных позиций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extLst>
                  <a:ext uri="{0D108BD9-81ED-4DB2-BD59-A6C34878D82A}">
                    <a16:rowId xmlns:a16="http://schemas.microsoft.com/office/drawing/2014/main" val="2118961963"/>
                  </a:ext>
                </a:extLst>
              </a:tr>
              <a:tr h="8989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Управление составом корзины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Хаотичный выбор продуктов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Интеллектуальное предложение недостающих ингредиентов для сбалансированного блюда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extLst>
                  <a:ext uri="{0D108BD9-81ED-4DB2-BD59-A6C34878D82A}">
                    <a16:rowId xmlns:a16="http://schemas.microsoft.com/office/drawing/2014/main" val="2260006606"/>
                  </a:ext>
                </a:extLst>
              </a:tr>
              <a:tr h="7424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Персонализация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 (усредненные покупки)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Полная подстройка под цели пользователя по здоровью и долголетию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extLst>
                  <a:ext uri="{0D108BD9-81ED-4DB2-BD59-A6C34878D82A}">
                    <a16:rowId xmlns:a16="http://schemas.microsoft.com/office/drawing/2014/main" val="2268256835"/>
                  </a:ext>
                </a:extLst>
              </a:tr>
              <a:tr h="7424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 на нацпроект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Низкое (отсутствие контроля)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Прямое (мониторинг и улучшение питания граждан)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0" marB="0" anchor="ctr"/>
                </a:tc>
                <a:extLst>
                  <a:ext uri="{0D108BD9-81ED-4DB2-BD59-A6C34878D82A}">
                    <a16:rowId xmlns:a16="http://schemas.microsoft.com/office/drawing/2014/main" val="1482852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068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4D49D-7605-0DC5-491E-15396759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079A9-F934-C3D4-B364-ADF3A3133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72B02F-70A0-7038-0F74-3997A6C9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0314F9B2-2095-D3EF-9CE7-C0A87194B0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5CD0AD-4A1E-A9C0-53D1-96653BDF0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09" y="0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99EC85-9AB0-EEE1-3B37-64CF0FC979BA}"/>
              </a:ext>
            </a:extLst>
          </p:cNvPr>
          <p:cNvSpPr txBox="1"/>
          <p:nvPr/>
        </p:nvSpPr>
        <p:spPr>
          <a:xfrm>
            <a:off x="2738899" y="2467278"/>
            <a:ext cx="8408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24673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3498</TotalTime>
  <Words>392</Words>
  <Application>Microsoft Macintosh PowerPoint</Application>
  <PresentationFormat>Широкоэкранный</PresentationFormat>
  <Paragraphs>77</Paragraphs>
  <Slides>10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Times New Roman</vt:lpstr>
      <vt:lpstr>Calibri Light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79178</dc:creator>
  <cp:lastModifiedBy>Алексей Болдинов</cp:lastModifiedBy>
  <cp:revision>113</cp:revision>
  <dcterms:created xsi:type="dcterms:W3CDTF">2021-09-09T08:30:02Z</dcterms:created>
  <dcterms:modified xsi:type="dcterms:W3CDTF">2026-04-09T13:10:30Z</dcterms:modified>
</cp:coreProperties>
</file>