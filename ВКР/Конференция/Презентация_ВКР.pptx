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7" r:id="rId1"/>
    <p:sldMasterId id="2147483793" r:id="rId2"/>
    <p:sldMasterId id="2147483794" r:id="rId3"/>
    <p:sldMasterId id="2147483795" r:id="rId4"/>
    <p:sldMasterId id="2147483796" r:id="rId5"/>
    <p:sldMasterId id="2147483797" r:id="rId6"/>
    <p:sldMasterId id="2147483798" r:id="rId7"/>
    <p:sldMasterId id="2147483799" r:id="rId8"/>
    <p:sldMasterId id="2147483800" r:id="rId9"/>
    <p:sldMasterId id="2147483801" r:id="rId10"/>
    <p:sldMasterId id="2147483802" r:id="rId11"/>
  </p:sldMasterIdLst>
  <p:notesMasterIdLst>
    <p:notesMasterId r:id="rId22"/>
  </p:notesMasterIdLst>
  <p:handoutMasterIdLst>
    <p:handoutMasterId r:id="rId23"/>
  </p:handoutMasterIdLst>
  <p:sldIdLst>
    <p:sldId id="7692" r:id="rId12"/>
    <p:sldId id="7693" r:id="rId13"/>
    <p:sldId id="7694" r:id="rId14"/>
    <p:sldId id="7695" r:id="rId15"/>
    <p:sldId id="7696" r:id="rId16"/>
    <p:sldId id="7699" r:id="rId17"/>
    <p:sldId id="7700" r:id="rId18"/>
    <p:sldId id="7701" r:id="rId19"/>
    <p:sldId id="7702" r:id="rId20"/>
    <p:sldId id="7691" r:id="rId21"/>
  </p:sldIdLst>
  <p:sldSz cx="12192000" cy="6858000"/>
  <p:notesSz cx="6858000" cy="9144000"/>
  <p:embeddedFontLst>
    <p:embeddedFont>
      <p:font typeface="DIN Pro Regular" panose="020B0504020101020102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orient="horz" pos="1366" userDrawn="1">
          <p15:clr>
            <a:srgbClr val="A4A3A4"/>
          </p15:clr>
        </p15:guide>
        <p15:guide id="6" pos="5518" userDrawn="1">
          <p15:clr>
            <a:srgbClr val="A4A3A4"/>
          </p15:clr>
        </p15:guide>
        <p15:guide id="7" orient="horz" pos="2341" userDrawn="1">
          <p15:clr>
            <a:srgbClr val="A4A3A4"/>
          </p15:clr>
        </p15:guide>
        <p15:guide id="8" orient="horz" pos="2591" userDrawn="1">
          <p15:clr>
            <a:srgbClr val="A4A3A4"/>
          </p15:clr>
        </p15:guide>
        <p15:guide id="9" orient="horz" pos="2523" userDrawn="1">
          <p15:clr>
            <a:srgbClr val="A4A3A4"/>
          </p15:clr>
        </p15:guide>
        <p15:guide id="10" pos="6698" userDrawn="1">
          <p15:clr>
            <a:srgbClr val="A4A3A4"/>
          </p15:clr>
        </p15:guide>
        <p15:guide id="11" orient="horz" pos="1117" userDrawn="1">
          <p15:clr>
            <a:srgbClr val="A4A3A4"/>
          </p15:clr>
        </p15:guide>
        <p15:guide id="12" orient="horz" pos="436" userDrawn="1">
          <p15:clr>
            <a:srgbClr val="A4A3A4"/>
          </p15:clr>
        </p15:guide>
        <p15:guide id="14" pos="5450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pos="6176" userDrawn="1">
          <p15:clr>
            <a:srgbClr val="A4A3A4"/>
          </p15:clr>
        </p15:guide>
        <p15:guide id="17" pos="1527" userDrawn="1">
          <p15:clr>
            <a:srgbClr val="A4A3A4"/>
          </p15:clr>
        </p15:guide>
        <p15:guide id="18" pos="3092" userDrawn="1">
          <p15:clr>
            <a:srgbClr val="A4A3A4"/>
          </p15:clr>
        </p15:guide>
        <p15:guide id="19" pos="5382" userDrawn="1">
          <p15:clr>
            <a:srgbClr val="A4A3A4"/>
          </p15:clr>
        </p15:guide>
        <p15:guide id="21" pos="960" userDrawn="1">
          <p15:clr>
            <a:srgbClr val="A4A3A4"/>
          </p15:clr>
        </p15:guide>
        <p15:guide id="22" pos="2434" userDrawn="1">
          <p15:clr>
            <a:srgbClr val="A4A3A4"/>
          </p15:clr>
        </p15:guide>
        <p15:guide id="23" orient="horz" pos="2047" userDrawn="1">
          <p15:clr>
            <a:srgbClr val="A4A3A4"/>
          </p15:clr>
        </p15:guide>
        <p15:guide id="24" pos="1277" userDrawn="1">
          <p15:clr>
            <a:srgbClr val="A4A3A4"/>
          </p15:clr>
        </p15:guide>
        <p15:guide id="25" pos="40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D669"/>
    <a:srgbClr val="B08C11"/>
    <a:srgbClr val="ECBD11"/>
    <a:srgbClr val="CDA208"/>
    <a:srgbClr val="EEC93C"/>
    <a:srgbClr val="EBB800"/>
    <a:srgbClr val="F1D870"/>
    <a:srgbClr val="EAB700"/>
    <a:srgbClr val="EDC225"/>
    <a:srgbClr val="E9B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014" autoAdjust="0"/>
  </p:normalViewPr>
  <p:slideViewPr>
    <p:cSldViewPr snapToGrid="0">
      <p:cViewPr varScale="1">
        <p:scale>
          <a:sx n="120" d="100"/>
          <a:sy n="120" d="100"/>
        </p:scale>
        <p:origin x="712" y="184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766" y="102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handoutMaster" Target="handoutMasters/handoutMaster1.xml"/><Relationship Id="rId28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876A335-CE86-7ED6-889D-53C24E470A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DIN Pro Regular" panose="020B0504020101020102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C012AE-C7DD-E3CE-3D45-392B3B4E6C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ABCC-CF3C-4532-9ACD-4FD4F6964F21}" type="datetimeFigureOut">
              <a:rPr lang="ru-RU" smtClean="0">
                <a:latin typeface="DIN Pro Regular" panose="020B0504020101020102" pitchFamily="34" charset="0"/>
              </a:rPr>
              <a:t>16.05.2026</a:t>
            </a:fld>
            <a:endParaRPr lang="ru-RU" dirty="0">
              <a:latin typeface="DIN Pro Regular" panose="020B0504020101020102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83633C-E4E3-D67A-FA0A-86B47BBB85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DIN Pro Regular" panose="020B0504020101020102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A13D7-DA5D-A715-E3E0-0777B3084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385E-F5AC-4220-88E8-D359F0C98E96}" type="slidenum">
              <a:rPr lang="ru-RU" smtClean="0">
                <a:latin typeface="DIN Pro Regular" panose="020B0504020101020102" pitchFamily="34" charset="0"/>
              </a:rPr>
              <a:t>‹#›</a:t>
            </a:fld>
            <a:endParaRPr lang="ru-RU" dirty="0">
              <a:latin typeface="DIN Pro Regular" panose="020B05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937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DIN Pro Regular" panose="020B0504020101020102" pitchFamily="34" charset="0"/>
                <a:sym typeface="DIN Pro Regular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DIN Pro Regular" panose="020B0504020101020102" pitchFamily="34" charset="0"/>
                <a:sym typeface="DIN Pro Regular" panose="02000506040000020004" pitchFamily="2" charset="0"/>
              </a:defRPr>
            </a:lvl1pPr>
          </a:lstStyle>
          <a:p>
            <a:fld id="{FBE26D7A-F5EB-4C23-8032-E31C77D84C5A}" type="datetimeFigureOut">
              <a:rPr lang="ru-RU" smtClean="0"/>
              <a:pPr/>
              <a:t>16.05.2026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DIN Pro Regular" panose="020B0504020101020102" pitchFamily="34" charset="0"/>
                <a:sym typeface="DIN Pro Regular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DIN Pro Regular" panose="020B0504020101020102" pitchFamily="34" charset="0"/>
                <a:sym typeface="DIN Pro Regular" panose="02000506040000020004" pitchFamily="2" charset="0"/>
              </a:defRPr>
            </a:lvl1pPr>
          </a:lstStyle>
          <a:p>
            <a:fld id="{23B3B5DC-1A24-4803-AA36-26180B22D0F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972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DIN Pro Regular" panose="020B0504020101020102" pitchFamily="34" charset="0"/>
        <a:ea typeface="+mn-ea"/>
        <a:cs typeface="+mn-cs"/>
        <a:sym typeface="DIN Pro Regular" panose="02000506040000020004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A3AB6-031A-8DA4-72B7-49FAAACE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FB2893-6800-4238-9F6A-7216587CC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1F8ACC-C3C0-3BEF-04A4-62BC9465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593E95-21B1-BF1E-6361-ACDF442C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B34673-BD57-C0B1-ABE3-A5A5D9D8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F8CBB-78A2-1134-4B1B-70D072F3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3915C-CC76-E38B-76FB-184A49BAD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12FADE-5136-A63B-C5D1-6D7ED17B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454AA9-C1ED-467D-107C-8B89487B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8EDB63-56B5-8B6F-72BC-583A939E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F8091-BF23-B072-576B-C8E74CF9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A48BDB-C628-5CC5-4D0D-B3C4E1D78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1EAF5A-BA32-C57B-B4DA-85975C4A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B0E5E8-67EB-CDFC-367F-40C25815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25E9F1-0D31-825F-090C-1690A566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0ED1A-CB51-2B80-CCF4-BEAA547B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D11ADF-AEC3-876F-0BC3-B30FAF611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C3E13F-5CEF-52D9-F7EF-56B72E6D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25BF7D-0B1B-78AB-1366-7A31A5D1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50497-FFD8-68F3-9298-72CD68D5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64EE0-FA64-5BB5-2B00-2E96C7A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D90FB-0AC3-667A-C6FD-C45F5D661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F54A43-A3A0-8B06-ED0D-EE28FDF6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CD1FC9-0A59-61ED-CA38-97274132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EF1593-C903-3144-E76B-D0C1B05D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28317-2589-E5E8-5FA8-76A7652A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44F6A5-56AA-5248-AAB6-8C395C487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C259AE-65DC-FD7C-BF05-D0336485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3EC5F9-C31C-FC62-9004-6B339176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897127-C715-827B-C5FE-E495E2AD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D8E1A-F13D-D680-D940-460736630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3E1F30-8FCB-FC2E-8259-214D914A0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212A66-AF74-4CC5-085F-912997A2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D77CF8-A977-8B09-C560-2CAB817A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17A41C-197D-1335-943B-F2BD7A91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1EEBD-2C4A-1801-DF95-A51A25C0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4551D5-4963-41A0-90D3-DF2709BC6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BAA38-1A8C-F448-1EA9-202731F4B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C58F41-77CF-FB1F-F4E8-1729F307F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B7B05F-8054-2AEB-84CF-AC829B11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C55C9-49FD-7F95-5D89-992E34779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A64A41-1E36-4249-D5AF-9B9D84791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B40AB0-FC63-0CA2-94AE-1987610B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B35EB-A0E6-306F-EFA9-B71EE4DD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9653E0-18E3-E8B6-AD8B-5532A85B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D162A-A402-E8AE-5E69-2EBACFD6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941896-AF98-C872-706B-C0CACEBB5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A51F20-2C88-067D-2C1E-675F092B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E833C4-1CD9-E3C8-F08F-9FDCCF267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0E0BEC-AADA-3A04-2CF4-6FA66C96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DA817-C7D4-FBEE-FDCF-D4C6E2BB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E9DFD0-629E-2763-77BF-55900A8C0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0542CA-E3B7-2ACD-A22C-8EC3E2E6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74AFCA-1E5E-9EE3-7269-785D506C0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A6ACC-9151-DE9D-1D68-631E5FF4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042B7-9DA8-86C9-1CB1-A5279CCF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CC777B-1CA5-9B03-B61D-BF1843394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33CF3B-B53E-3966-C19A-0C7756D8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2C117A-F7A8-B4F3-8C28-780DB9B64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9D3A87-8EB4-A05D-5988-9A1B3822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40D33-EA44-A37B-4687-E06DB064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59256F-F4F0-84FB-246C-A1D5461C7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2C0090-3343-D1FE-4A1B-4523F148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1B0853-CE76-259B-1ECE-A3369A5D9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E6E7E0-A890-5AC0-A87F-A123CC9A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BCC73-7B47-6DF0-DFF7-33A6AE566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4621EA-D2F5-0C0D-32ED-96B0BCBB6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4A1DB0-C31F-D55C-6156-9D6D7889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C2700-9066-A520-633D-5E415EA0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BC756B-F54B-8924-0197-7E7B6FC1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CD269-0E7D-FA08-1AA5-416BC2AD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47D4FC-3B58-6449-43F3-D2298E539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1818AA-246A-CE3D-9AE8-64F62C54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6FD66E-446D-5594-DC7B-C1D1D6A9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30294F-68F0-3213-8CB5-A498CC1B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37CE7-D668-DD73-42B9-797463FB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4B74C4-8715-DE4C-17A4-8F36DEBB5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D5382E-8BEF-E1C5-D07D-C56A8C6DE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2F842A-BD92-B129-284A-3B0DF1D2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E6D5F9-7659-00A7-86BE-5466B21E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3CDD6-05D7-1554-FB8A-6B65E7BD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978A99-FA5C-78CE-F1EA-70C09FD70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FA811E-2DA8-FC2D-0289-1ECD26AFD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755303-DA15-DBF5-5386-41AB39E17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E3775D-2D42-5A8E-FB2F-492C3031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2A845-0930-C3EF-AEAD-59701E84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54C064-04F0-6E14-C486-D1823C7C1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B72E53-82CB-59AE-7821-7E617B2D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7B28F-7CE9-52FF-39B1-6BF6F39F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B300F-FD09-D174-0FF2-BF1278D1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FD03C-945B-658B-5921-182C2733E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9AE559-713F-E0BD-F883-3B05341CA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00C9AB-9B89-369B-9002-E1033755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2A2C9-2361-16BA-8120-899E90A4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6794E-E21F-A02F-C719-939C1B40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D40D5-C708-34C9-E3DA-FAEFEC08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3D3EAC-8E73-C7AF-CAB4-C611A8DD7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895E77-2816-38D2-3136-D0662001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125D6E-E1B2-1A68-DA5B-4A4F8B6BE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35579-A080-B3C7-01BF-3C2E5284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9C3EB-9BDC-7012-AC6A-08DC716A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8B71F-CAF7-29F8-F3D3-75A54640C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B1DA00-96D8-2E89-88FC-1664F27D6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5F22E-B051-6041-9A98-B9FEA216CB5A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B872C6-117E-E742-467A-B8F1720DF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B2FFBC-EF21-4389-D910-9D9DDA4D1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4B945-EC74-B342-9CC3-712F83389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5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72" r:id="rId2"/>
    <p:sldLayoutId id="2147483739" r:id="rId3"/>
    <p:sldLayoutId id="2147483771" r:id="rId4"/>
    <p:sldLayoutId id="2147483770" r:id="rId5"/>
    <p:sldLayoutId id="2147483755" r:id="rId6"/>
    <p:sldLayoutId id="2147483740" r:id="rId7"/>
    <p:sldLayoutId id="2147483753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1" r:id="rId17"/>
    <p:sldLayoutId id="2147483752" r:id="rId18"/>
    <p:sldLayoutId id="2147483791" r:id="rId19"/>
    <p:sldLayoutId id="2147483792" r:id="rId20"/>
    <p:sldLayoutId id="214748380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E51E446-D541-B9E4-A005-11EBD07E6020}"/>
              </a:ext>
            </a:extLst>
          </p:cNvPr>
          <p:cNvSpPr>
            <a:spLocks noGrp="1"/>
          </p:cNvSpPr>
          <p:nvPr/>
        </p:nvSpPr>
        <p:spPr>
          <a:xfrm>
            <a:off x="1420420" y="833421"/>
            <a:ext cx="9351146" cy="14907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0" lang="ru-RU" sz="20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83D77-1CD6-5EAA-457F-F1BC09E5464E}"/>
              </a:ext>
            </a:extLst>
          </p:cNvPr>
          <p:cNvSpPr txBox="1"/>
          <p:nvPr/>
        </p:nvSpPr>
        <p:spPr>
          <a:xfrm>
            <a:off x="2312682" y="2298676"/>
            <a:ext cx="772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перспективных технологий и индустриального программирования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99D771-6AD2-A308-3FC6-8ECE685AB10C}"/>
              </a:ext>
            </a:extLst>
          </p:cNvPr>
          <p:cNvSpPr txBox="1"/>
          <p:nvPr/>
        </p:nvSpPr>
        <p:spPr>
          <a:xfrm>
            <a:off x="3128852" y="261364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индустриального программирования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7C0D5-ECE4-3310-28CA-4A87AA311D43}"/>
              </a:ext>
            </a:extLst>
          </p:cNvPr>
          <p:cNvSpPr txBox="1"/>
          <p:nvPr/>
        </p:nvSpPr>
        <p:spPr>
          <a:xfrm>
            <a:off x="2312681" y="3206551"/>
            <a:ext cx="75666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информационной системы для персонализированного подбора товарных позиций на основе предпочтений пользователя»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3A3721-BB57-3DE6-012E-4C6CA846A8A6}"/>
              </a:ext>
            </a:extLst>
          </p:cNvPr>
          <p:cNvSpPr txBox="1"/>
          <p:nvPr/>
        </p:nvSpPr>
        <p:spPr>
          <a:xfrm>
            <a:off x="6010874" y="4384231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Подготовил: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студент группы ЭФМО-02-24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Фамилия Имя Отчество</a:t>
            </a:r>
          </a:p>
          <a:p>
            <a:pPr algn="r"/>
            <a:endParaRPr lang="ru-RU" altLang="ru-RU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Руководитель: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профессор кафедры индустриального программирования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Хоменко Т. 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01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78E964-1EE0-1B97-1432-11399A194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82342" y="1348340"/>
            <a:ext cx="6880621" cy="4138697"/>
          </a:xfrm>
          <a:prstGeom prst="rect">
            <a:avLst/>
          </a:prstGeom>
        </p:spPr>
      </p:pic>
      <p:sp>
        <p:nvSpPr>
          <p:cNvPr id="42" name="Rectangle 12">
            <a:extLst>
              <a:ext uri="{FF2B5EF4-FFF2-40B4-BE49-F238E27FC236}">
                <a16:creationId xmlns:a16="http://schemas.microsoft.com/office/drawing/2014/main" id="{CC77C9C0-2C53-EF5A-A88E-C58BACCD859E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Pro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Pro Regular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6AE7D13-E043-0AFC-FA1C-9AC09F89FAB6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3DC927F-911E-87F6-2B68-183BD777CE8E}"/>
              </a:ext>
            </a:extLst>
          </p:cNvPr>
          <p:cNvGrpSpPr/>
          <p:nvPr/>
        </p:nvGrpSpPr>
        <p:grpSpPr>
          <a:xfrm>
            <a:off x="9743356" y="420456"/>
            <a:ext cx="2022129" cy="1417607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5C45F191-136D-9D03-82FB-64689FFC19B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5532A72-D09D-1EA0-E564-E22601AF71B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63A8846E-7FA3-C31A-5F0A-D1920755944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78A01CC5-46A5-E755-CDAD-3E9EC0B4768D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0A438E69-33CD-BEE1-F0B8-5DE864C58584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B56E385A-71D2-854E-9ACE-05D9A43897C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2D7B96C5-FDCE-D787-AD00-041DE4A080D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4F49C198-5B36-FB67-9264-DB7C6CB088B1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6A02F55-14D0-FAA8-86DC-EEFB10EC4039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DAB50B02-3C4F-BD27-5A9B-DD47D4DF2FB5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3B19F252-C3A0-23BE-D753-13E554908F20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207F4673-C3E0-D4EB-ECED-BCC8962FECD1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FB73DC69-0D27-9CE8-06DF-9AE5DED317D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9ED2D6E-E393-5B3B-2915-7235AF04E908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9752A926-3406-3CCF-086A-E64505944100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>
              <a:extLst>
                <a:ext uri="{FF2B5EF4-FFF2-40B4-BE49-F238E27FC236}">
                  <a16:creationId xmlns:a16="http://schemas.microsoft.com/office/drawing/2014/main" id="{78D49DE7-D7A1-3BC2-335C-816E085ACB9D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6B720BBE-A61C-98F5-B74A-A8D4B7AA03A8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ADB2CA8-C72E-DB5E-620F-58951A5AE96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>
              <a:extLst>
                <a:ext uri="{FF2B5EF4-FFF2-40B4-BE49-F238E27FC236}">
                  <a16:creationId xmlns:a16="http://schemas.microsoft.com/office/drawing/2014/main" id="{60710DFC-A7A0-DBA1-722C-2CA708D036F0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64F8E8C4-EE6C-3C4D-EF62-8312622CF53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C9849166-F482-9806-74DB-AF0DF8B5A3C7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8B9DBB2-D70C-034D-8DE9-FFE49F4FC73D}"/>
              </a:ext>
            </a:extLst>
          </p:cNvPr>
          <p:cNvSpPr txBox="1"/>
          <p:nvPr/>
        </p:nvSpPr>
        <p:spPr>
          <a:xfrm>
            <a:off x="102418" y="65725"/>
            <a:ext cx="76969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cs typeface="Times New Roman" panose="02020603050405020304" pitchFamily="18" charset="0"/>
              </a:rPr>
              <a:t>Актуальность исследования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14AD41-AF28-B38D-0D2D-AB984A410CDB}"/>
              </a:ext>
            </a:extLst>
          </p:cNvPr>
          <p:cNvSpPr txBox="1"/>
          <p:nvPr/>
        </p:nvSpPr>
        <p:spPr>
          <a:xfrm>
            <a:off x="0" y="2157328"/>
            <a:ext cx="805330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Национальный проект «Продолжительная и активная жизнь» предполагает рост продолжительности жизни до 78 лет к 2030 году. Один из путей к этому — культура питания. Однако между процессом покупки продуктов и контролем калорийности, белков, жиров и углеводов корзины существует разрыв, который массовые сервисы не закрывают.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: скругленные углы 9">
            <a:extLst>
              <a:ext uri="{FF2B5EF4-FFF2-40B4-BE49-F238E27FC236}">
                <a16:creationId xmlns:a16="http://schemas.microsoft.com/office/drawing/2014/main" id="{A5950B42-04E2-3440-E939-3235064DF3DD}"/>
              </a:ext>
            </a:extLst>
          </p:cNvPr>
          <p:cNvSpPr/>
          <p:nvPr/>
        </p:nvSpPr>
        <p:spPr>
          <a:xfrm>
            <a:off x="96967" y="4772447"/>
            <a:ext cx="2760955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Онлайн-магазины продуктов не считают КБЖУ корзины</a:t>
            </a:r>
          </a:p>
        </p:txBody>
      </p:sp>
      <p:sp>
        <p:nvSpPr>
          <p:cNvPr id="34" name="Прямоугольник: скругленные углы 12">
            <a:extLst>
              <a:ext uri="{FF2B5EF4-FFF2-40B4-BE49-F238E27FC236}">
                <a16:creationId xmlns:a16="http://schemas.microsoft.com/office/drawing/2014/main" id="{33D0AD3B-7AEC-F9EA-3786-7123993B35ED}"/>
              </a:ext>
            </a:extLst>
          </p:cNvPr>
          <p:cNvSpPr/>
          <p:nvPr/>
        </p:nvSpPr>
        <p:spPr>
          <a:xfrm>
            <a:off x="3122844" y="4772447"/>
            <a:ext cx="2790997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Фитнес-трекеры требуют ручного ввода данных после покупки</a:t>
            </a:r>
          </a:p>
        </p:txBody>
      </p:sp>
      <p:sp>
        <p:nvSpPr>
          <p:cNvPr id="36" name="Прямоугольник: скругленные углы 13">
            <a:extLst>
              <a:ext uri="{FF2B5EF4-FFF2-40B4-BE49-F238E27FC236}">
                <a16:creationId xmlns:a16="http://schemas.microsoft.com/office/drawing/2014/main" id="{C6A73F32-1462-FD14-6FB4-F1649B17879D}"/>
              </a:ext>
            </a:extLst>
          </p:cNvPr>
          <p:cNvSpPr/>
          <p:nvPr/>
        </p:nvSpPr>
        <p:spPr>
          <a:xfrm>
            <a:off x="6208057" y="4772447"/>
            <a:ext cx="2705123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Сервисы готовых рационов дороги и негибки</a:t>
            </a:r>
          </a:p>
        </p:txBody>
      </p:sp>
      <p:sp>
        <p:nvSpPr>
          <p:cNvPr id="37" name="Прямоугольник: скругленные углы 14">
            <a:extLst>
              <a:ext uri="{FF2B5EF4-FFF2-40B4-BE49-F238E27FC236}">
                <a16:creationId xmlns:a16="http://schemas.microsoft.com/office/drawing/2014/main" id="{AB9B5514-0763-12EE-3957-F7AB65782118}"/>
              </a:ext>
            </a:extLst>
          </p:cNvPr>
          <p:cNvSpPr/>
          <p:nvPr/>
        </p:nvSpPr>
        <p:spPr>
          <a:xfrm>
            <a:off x="9182367" y="4772447"/>
            <a:ext cx="2912666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 решения, объединяющего каталог и подбор рациона</a:t>
            </a:r>
          </a:p>
        </p:txBody>
      </p:sp>
      <p:sp>
        <p:nvSpPr>
          <p:cNvPr id="38" name="Знак ''плюс'' 15">
            <a:extLst>
              <a:ext uri="{FF2B5EF4-FFF2-40B4-BE49-F238E27FC236}">
                <a16:creationId xmlns:a16="http://schemas.microsoft.com/office/drawing/2014/main" id="{A8F7AF21-B2AB-1EEA-4FC9-363F3F93E02F}"/>
              </a:ext>
            </a:extLst>
          </p:cNvPr>
          <p:cNvSpPr/>
          <p:nvPr/>
        </p:nvSpPr>
        <p:spPr>
          <a:xfrm>
            <a:off x="2545303" y="5185374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Знак ''плюс'' 16">
            <a:extLst>
              <a:ext uri="{FF2B5EF4-FFF2-40B4-BE49-F238E27FC236}">
                <a16:creationId xmlns:a16="http://schemas.microsoft.com/office/drawing/2014/main" id="{7DA5D20A-0CFE-12DD-EC20-E128C400E52B}"/>
              </a:ext>
            </a:extLst>
          </p:cNvPr>
          <p:cNvSpPr/>
          <p:nvPr/>
        </p:nvSpPr>
        <p:spPr>
          <a:xfrm>
            <a:off x="5605487" y="5139236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Знак ''плюс'' 17">
            <a:extLst>
              <a:ext uri="{FF2B5EF4-FFF2-40B4-BE49-F238E27FC236}">
                <a16:creationId xmlns:a16="http://schemas.microsoft.com/office/drawing/2014/main" id="{774DCEC2-32D0-0809-90B6-C86652DB826C}"/>
              </a:ext>
            </a:extLst>
          </p:cNvPr>
          <p:cNvSpPr/>
          <p:nvPr/>
        </p:nvSpPr>
        <p:spPr>
          <a:xfrm>
            <a:off x="8604826" y="5121360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9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612" y="0"/>
            <a:ext cx="1102388" cy="908725"/>
          </a:xfrm>
          <a:prstGeom prst="rect">
            <a:avLst/>
          </a:prstGeom>
        </p:spPr>
      </p:pic>
      <p:sp>
        <p:nvSpPr>
          <p:cNvPr id="60" name="Заголовок"/>
          <p:cNvSpPr txBox="1"/>
          <p:nvPr/>
        </p:nvSpPr>
        <p:spPr>
          <a:xfrm>
            <a:off x="500000" y="240000"/>
            <a:ext cx="1000000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Объект, предмет, цель и задачи исследования</a:t>
            </a:r>
          </a:p>
        </p:txBody>
      </p:sp>
      <p:sp>
        <p:nvSpPr>
          <p:cNvPr id="61" name="Объект"/>
          <p:cNvSpPr txBox="1"/>
          <p:nvPr/>
        </p:nvSpPr>
        <p:spPr>
          <a:xfrm>
            <a:off x="400000" y="1200000"/>
            <a:ext cx="5500000" cy="1500000"/>
          </a:xfrm>
          <a:prstGeom prst="roundRect">
            <a:avLst/>
          </a:prstGeom>
          <a:noFill/>
          <a:ln w="25400"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формирования продуктовой корзины пользователя в онлайн-магазинах продуктов</a:t>
            </a:r>
          </a:p>
        </p:txBody>
      </p:sp>
      <p:sp>
        <p:nvSpPr>
          <p:cNvPr id="62" name="Предмет"/>
          <p:cNvSpPr txBox="1"/>
          <p:nvPr/>
        </p:nvSpPr>
        <p:spPr>
          <a:xfrm>
            <a:off x="400000" y="2850000"/>
            <a:ext cx="5500000" cy="1500000"/>
          </a:xfrm>
          <a:prstGeom prst="roundRect">
            <a:avLst/>
          </a:prstGeom>
          <a:noFill/>
          <a:ln w="25400"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 алгоритмы подбора продуктов и блюд с учётом КБЖУ корзины и истории заказов пользователя</a:t>
            </a:r>
          </a:p>
        </p:txBody>
      </p:sp>
      <p:sp>
        <p:nvSpPr>
          <p:cNvPr id="63" name="Цель"/>
          <p:cNvSpPr txBox="1"/>
          <p:nvPr/>
        </p:nvSpPr>
        <p:spPr>
          <a:xfrm>
            <a:off x="400000" y="4500000"/>
            <a:ext cx="5500000" cy="1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 anchor="ctr">
            <a:normAutofit/>
          </a:bodyPr>
          <a:lstStyle/>
          <a:p>
            <a:pPr algn="l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эффективности формирования рациона питания граждан путём персонализированного подбора блюд на основе выбранных товарных позиций</a:t>
            </a:r>
          </a:p>
        </p:txBody>
      </p:sp>
      <p:sp>
        <p:nvSpPr>
          <p:cNvPr id="64" name="Задачи"/>
          <p:cNvSpPr txBox="1"/>
          <p:nvPr/>
        </p:nvSpPr>
        <p:spPr>
          <a:xfrm>
            <a:off x="6150000" y="1200000"/>
            <a:ext cx="5650000" cy="5200000"/>
          </a:xfrm>
          <a:prstGeom prst="roundRect">
            <a:avLst/>
          </a:prstGeom>
          <a:noFill/>
          <a:ln w="25400"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</a:t>
            </a:r>
          </a:p>
          <a:p>
            <a:pPr algn="just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Исследовать предметную область, выявить объект и предмет исследования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Рассмотреть задачу о рационе и методы её решения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Рассмотреть бинарные отношения предпочтения в заданной предметной области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Разработать технические требования к информационной системе и её архитектуру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Выполнить адаптацию задачи о рационе в заданной предметной области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Определить оценку эффективности реализации информационной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5201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19" name="Заголовок"/>
          <p:cNvSpPr txBox="1"/>
          <p:nvPr/>
        </p:nvSpPr>
        <p:spPr>
          <a:xfrm>
            <a:off x="600000" y="280000"/>
            <a:ext cx="980000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20" name="Колонка 1"/>
          <p:cNvSpPr txBox="1"/>
          <p:nvPr/>
        </p:nvSpPr>
        <p:spPr>
          <a:xfrm>
            <a:off x="423000" y="1300000"/>
            <a:ext cx="3500000" cy="3100000"/>
          </a:xfrm>
          <a:prstGeom prst="round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 anchor="t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Онлайн-магазины продуктов</a:t>
            </a:r>
          </a:p>
          <a:p>
            <a:pPr algn="l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Рекомендуют «похожие товары» и работают на средний чек. Нутриентный состав корзины не учитывается.</a:t>
            </a:r>
          </a:p>
        </p:txBody>
      </p:sp>
      <p:sp>
        <p:nvSpPr>
          <p:cNvPr id="21" name="Колонка 2"/>
          <p:cNvSpPr txBox="1"/>
          <p:nvPr/>
        </p:nvSpPr>
        <p:spPr>
          <a:xfrm>
            <a:off x="4346000" y="1300000"/>
            <a:ext cx="3500000" cy="3100000"/>
          </a:xfrm>
          <a:prstGeom prst="round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 anchor="t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Фитнес-трекеры питания</a:t>
            </a:r>
          </a:p>
          <a:p>
            <a:pPr algn="l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Считают КБЖУ, но пользователь вводит данные вручную уже после покупки и потребления.</a:t>
            </a:r>
          </a:p>
        </p:txBody>
      </p:sp>
      <p:sp>
        <p:nvSpPr>
          <p:cNvPr id="22" name="Колонка 3"/>
          <p:cNvSpPr txBox="1"/>
          <p:nvPr/>
        </p:nvSpPr>
        <p:spPr>
          <a:xfrm>
            <a:off x="8269000" y="1300000"/>
            <a:ext cx="3500000" cy="3100000"/>
          </a:xfrm>
          <a:prstGeom prst="round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 anchor="t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Сервисы готовых рационов</a:t>
            </a:r>
          </a:p>
          <a:p>
            <a:pPr algn="l"/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Точно рассчитывают КБЖУ, но дороги и не дают гибко менять состав рациона.</a:t>
            </a:r>
          </a:p>
        </p:txBody>
      </p:sp>
      <p:sp>
        <p:nvSpPr>
          <p:cNvPr id="23" name="Вывод"/>
          <p:cNvSpPr txBox="1"/>
          <p:nvPr/>
        </p:nvSpPr>
        <p:spPr>
          <a:xfrm>
            <a:off x="423000" y="4650000"/>
            <a:ext cx="11346000" cy="15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 одно из решений не объединяет каталог товаров, автоматический расчёт КБЖУ и подбор блюд по составу корзины — это и определяет необходимость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28424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00" y="244862"/>
            <a:ext cx="980000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Постановка задачи о рационе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1150000"/>
            <a:ext cx="110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классической задачи о диете — к учёту предпочтений пользователя</a:t>
            </a:r>
          </a:p>
        </p:txBody>
      </p:sp>
      <p:pic>
        <p:nvPicPr>
          <p:cNvPr id="40" name="Граф предпочтений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2350000"/>
            <a:ext cx="7000000" cy="3575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00000" y="2000000"/>
            <a:ext cx="4100000" cy="185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Классическая задача о диете (Дж. Стиглер, 1945) минимизирует стоимость набора продуктов при заданных нормах КБЖУ, но не учитывает предпочтения пользователя.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0000" y="4050000"/>
            <a:ext cx="4100000" cy="190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Предпочтения формализованы бинарными отношениями: строгое P, безразличие I, нестрогое R. Это позволяет перейти от минимизации стоимости к функции полезности U(x).</a:t>
            </a:r>
          </a:p>
        </p:txBody>
      </p:sp>
    </p:spTree>
    <p:extLst>
      <p:ext uri="{BB962C8B-B14F-4D97-AF65-F5344CB8AC3E}">
        <p14:creationId xmlns:p14="http://schemas.microsoft.com/office/powerpoint/2010/main" val="1774596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00" y="244862"/>
            <a:ext cx="980000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Архитектура информационной системы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1150000"/>
            <a:ext cx="110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модель с гибридным хранилищем данных</a:t>
            </a:r>
          </a:p>
        </p:txBody>
      </p:sp>
      <p:pic>
        <p:nvPicPr>
          <p:cNvPr id="40" name="Схема архитектур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2300000"/>
            <a:ext cx="7000000" cy="364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00000" y="2000000"/>
            <a:ext cx="4100000" cy="185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— одностраничное приложение на Vue 3. Сервер — на языке Go с многослойной структурой: API, обработчики, сервисы, репозитории.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0000" y="4050000"/>
            <a:ext cx="4100000" cy="190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Гибридное хранилище: PostgreSQL — 12 структурированных сущностей; MongoDB — изображения товаров. Аналитический модуль реализован на Python.</a:t>
            </a:r>
          </a:p>
        </p:txBody>
      </p:sp>
    </p:spTree>
    <p:extLst>
      <p:ext uri="{BB962C8B-B14F-4D97-AF65-F5344CB8AC3E}">
        <p14:creationId xmlns:p14="http://schemas.microsoft.com/office/powerpoint/2010/main" val="177459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00" y="244862"/>
            <a:ext cx="980000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Рекомендательный модуль: научная новизна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1150000"/>
            <a:ext cx="110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Двухслойная гибридная схема подбора рациона</a:t>
            </a:r>
          </a:p>
        </p:txBody>
      </p:sp>
      <p:pic>
        <p:nvPicPr>
          <p:cNvPr id="40" name="Схема рекомендаций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2350000"/>
            <a:ext cx="7000000" cy="3613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00000" y="2000000"/>
            <a:ext cx="4100000" cy="185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Слой на Go — быстрый подбор блюд по составу корзины: доля совпавших ингредиентов и нутриентный скор по балансу КБЖУ.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0000" y="4050000"/>
            <a:ext cx="4100000" cy="190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Слой на Python — персонализация: матричное разложение TruncatedSVD и гибридный скор товара по КБЖУ, истории, блюдам и давности покупок.</a:t>
            </a:r>
          </a:p>
        </p:txBody>
      </p:sp>
    </p:spTree>
    <p:extLst>
      <p:ext uri="{BB962C8B-B14F-4D97-AF65-F5344CB8AC3E}">
        <p14:creationId xmlns:p14="http://schemas.microsoft.com/office/powerpoint/2010/main" val="1774596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820" y="0"/>
            <a:ext cx="1102388" cy="9087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00" y="244862"/>
            <a:ext cx="980000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Результаты тестирования и оценка эффективности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1150000"/>
            <a:ext cx="110000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Гибридная модель превосходит базовые подходы</a:t>
            </a:r>
          </a:p>
        </p:txBody>
      </p:sp>
      <p:pic>
        <p:nvPicPr>
          <p:cNvPr id="40" name="График метри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2350000"/>
            <a:ext cx="6700000" cy="4017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00000" y="2000000"/>
            <a:ext cx="4200000" cy="185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модульное, интеграционное и нагрузочное тестирование. Время отклика сервера — в пределах целевых 200 мс.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0000" y="4050000"/>
            <a:ext cx="4200000" cy="190000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ru-RU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рекомендаций оценено по метрикам Precision@K, Recall@K и авторской метрике NAS. Гибридная модель показала лучший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7459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78E964-1EE0-1B97-1432-11399A194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82342" y="1348340"/>
            <a:ext cx="6880621" cy="4138697"/>
          </a:xfrm>
          <a:prstGeom prst="rect">
            <a:avLst/>
          </a:prstGeom>
        </p:spPr>
      </p:pic>
      <p:sp>
        <p:nvSpPr>
          <p:cNvPr id="42" name="Rectangle 12">
            <a:extLst>
              <a:ext uri="{FF2B5EF4-FFF2-40B4-BE49-F238E27FC236}">
                <a16:creationId xmlns:a16="http://schemas.microsoft.com/office/drawing/2014/main" id="{CC77C9C0-2C53-EF5A-A88E-C58BACCD859E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N Pro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N Pro Regular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6AE7D13-E043-0AFC-FA1C-9AC09F89FAB6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3DC927F-911E-87F6-2B68-183BD777CE8E}"/>
              </a:ext>
            </a:extLst>
          </p:cNvPr>
          <p:cNvGrpSpPr/>
          <p:nvPr/>
        </p:nvGrpSpPr>
        <p:grpSpPr>
          <a:xfrm>
            <a:off x="9743356" y="420456"/>
            <a:ext cx="2022129" cy="1417607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5C45F191-136D-9D03-82FB-64689FFC19B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5532A72-D09D-1EA0-E564-E22601AF71B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63A8846E-7FA3-C31A-5F0A-D1920755944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78A01CC5-46A5-E755-CDAD-3E9EC0B4768D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0A438E69-33CD-BEE1-F0B8-5DE864C58584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B56E385A-71D2-854E-9ACE-05D9A43897C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2D7B96C5-FDCE-D787-AD00-041DE4A080D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4F49C198-5B36-FB67-9264-DB7C6CB088B1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6A02F55-14D0-FAA8-86DC-EEFB10EC4039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DAB50B02-3C4F-BD27-5A9B-DD47D4DF2FB5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3B19F252-C3A0-23BE-D753-13E554908F20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207F4673-C3E0-D4EB-ECED-BCC8962FECD1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FB73DC69-0D27-9CE8-06DF-9AE5DED317D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9ED2D6E-E393-5B3B-2915-7235AF04E908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9752A926-3406-3CCF-086A-E64505944100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>
              <a:extLst>
                <a:ext uri="{FF2B5EF4-FFF2-40B4-BE49-F238E27FC236}">
                  <a16:creationId xmlns:a16="http://schemas.microsoft.com/office/drawing/2014/main" id="{78D49DE7-D7A1-3BC2-335C-816E085ACB9D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6B720BBE-A61C-98F5-B74A-A8D4B7AA03A8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ADB2CA8-C72E-DB5E-620F-58951A5AE96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>
              <a:extLst>
                <a:ext uri="{FF2B5EF4-FFF2-40B4-BE49-F238E27FC236}">
                  <a16:creationId xmlns:a16="http://schemas.microsoft.com/office/drawing/2014/main" id="{60710DFC-A7A0-DBA1-722C-2CA708D036F0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64F8E8C4-EE6C-3C4D-EF62-8312622CF53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C9849166-F482-9806-74DB-AF0DF8B5A3C7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8B9DBB2-D70C-034D-8DE9-FFE49F4FC73D}"/>
              </a:ext>
            </a:extLst>
          </p:cNvPr>
          <p:cNvSpPr txBox="1"/>
          <p:nvPr/>
        </p:nvSpPr>
        <p:spPr>
          <a:xfrm>
            <a:off x="102418" y="65725"/>
            <a:ext cx="76969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14AD41-AF28-B38D-0D2D-AB984A410CDB}"/>
              </a:ext>
            </a:extLst>
          </p:cNvPr>
          <p:cNvSpPr txBox="1"/>
          <p:nvPr/>
        </p:nvSpPr>
        <p:spPr>
          <a:xfrm>
            <a:off x="0" y="2157328"/>
            <a:ext cx="805330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 рамках работы спроектирована и реализована информационная система персонализированного подбора товарных позиций и блюд. Цель — повышение эффективности формирования рациона питания граждан — достигнута, все шесть задач, поставленных в задании, решены.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: скругленные углы 9">
            <a:extLst>
              <a:ext uri="{FF2B5EF4-FFF2-40B4-BE49-F238E27FC236}">
                <a16:creationId xmlns:a16="http://schemas.microsoft.com/office/drawing/2014/main" id="{A5950B42-04E2-3440-E939-3235064DF3DD}"/>
              </a:ext>
            </a:extLst>
          </p:cNvPr>
          <p:cNvSpPr/>
          <p:nvPr/>
        </p:nvSpPr>
        <p:spPr>
          <a:xfrm>
            <a:off x="96967" y="4772447"/>
            <a:ext cx="2760955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и реализована информационная система</a:t>
            </a:r>
          </a:p>
        </p:txBody>
      </p:sp>
      <p:sp>
        <p:nvSpPr>
          <p:cNvPr id="34" name="Прямоугольник: скругленные углы 12">
            <a:extLst>
              <a:ext uri="{FF2B5EF4-FFF2-40B4-BE49-F238E27FC236}">
                <a16:creationId xmlns:a16="http://schemas.microsoft.com/office/drawing/2014/main" id="{33D0AD3B-7AEC-F9EA-3786-7123993B35ED}"/>
              </a:ext>
            </a:extLst>
          </p:cNvPr>
          <p:cNvSpPr/>
          <p:nvPr/>
        </p:nvSpPr>
        <p:spPr>
          <a:xfrm>
            <a:off x="3122844" y="4772447"/>
            <a:ext cx="2790997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двухслойный рекомендательный модуль</a:t>
            </a:r>
          </a:p>
        </p:txBody>
      </p:sp>
      <p:sp>
        <p:nvSpPr>
          <p:cNvPr id="36" name="Прямоугольник: скругленные углы 13">
            <a:extLst>
              <a:ext uri="{FF2B5EF4-FFF2-40B4-BE49-F238E27FC236}">
                <a16:creationId xmlns:a16="http://schemas.microsoft.com/office/drawing/2014/main" id="{C6A73F32-1462-FD14-6FB4-F1649B17879D}"/>
              </a:ext>
            </a:extLst>
          </p:cNvPr>
          <p:cNvSpPr/>
          <p:nvPr/>
        </p:nvSpPr>
        <p:spPr>
          <a:xfrm>
            <a:off x="6208057" y="4772447"/>
            <a:ext cx="2705123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подтверждена тестированием</a:t>
            </a:r>
          </a:p>
        </p:txBody>
      </p:sp>
      <p:sp>
        <p:nvSpPr>
          <p:cNvPr id="37" name="Прямоугольник: скругленные углы 14">
            <a:extLst>
              <a:ext uri="{FF2B5EF4-FFF2-40B4-BE49-F238E27FC236}">
                <a16:creationId xmlns:a16="http://schemas.microsoft.com/office/drawing/2014/main" id="{AB9B5514-0763-12EE-3957-F7AB65782118}"/>
              </a:ext>
            </a:extLst>
          </p:cNvPr>
          <p:cNvSpPr/>
          <p:nvPr/>
        </p:nvSpPr>
        <p:spPr>
          <a:xfrm>
            <a:off x="9182367" y="4772447"/>
            <a:ext cx="2912666" cy="1619475"/>
          </a:xfrm>
          <a:prstGeom prst="roundRect">
            <a:avLst/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задачи выполнены, цель достигнута</a:t>
            </a:r>
          </a:p>
        </p:txBody>
      </p:sp>
      <p:sp>
        <p:nvSpPr>
          <p:cNvPr id="38" name="Знак ''плюс'' 15">
            <a:extLst>
              <a:ext uri="{FF2B5EF4-FFF2-40B4-BE49-F238E27FC236}">
                <a16:creationId xmlns:a16="http://schemas.microsoft.com/office/drawing/2014/main" id="{A8F7AF21-B2AB-1EEA-4FC9-363F3F93E02F}"/>
              </a:ext>
            </a:extLst>
          </p:cNvPr>
          <p:cNvSpPr/>
          <p:nvPr/>
        </p:nvSpPr>
        <p:spPr>
          <a:xfrm>
            <a:off x="2545303" y="5185374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Знак ''плюс'' 16">
            <a:extLst>
              <a:ext uri="{FF2B5EF4-FFF2-40B4-BE49-F238E27FC236}">
                <a16:creationId xmlns:a16="http://schemas.microsoft.com/office/drawing/2014/main" id="{7DA5D20A-0CFE-12DD-EC20-E128C400E52B}"/>
              </a:ext>
            </a:extLst>
          </p:cNvPr>
          <p:cNvSpPr/>
          <p:nvPr/>
        </p:nvSpPr>
        <p:spPr>
          <a:xfrm>
            <a:off x="5605487" y="5139236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Знак ''плюс'' 17">
            <a:extLst>
              <a:ext uri="{FF2B5EF4-FFF2-40B4-BE49-F238E27FC236}">
                <a16:creationId xmlns:a16="http://schemas.microsoft.com/office/drawing/2014/main" id="{774DCEC2-32D0-0809-90B6-C86652DB826C}"/>
              </a:ext>
            </a:extLst>
          </p:cNvPr>
          <p:cNvSpPr/>
          <p:nvPr/>
        </p:nvSpPr>
        <p:spPr>
          <a:xfrm>
            <a:off x="8604826" y="5121360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92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7BF9-9A37-E626-174D-162B497C4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865" y="2831236"/>
            <a:ext cx="5896792" cy="168513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685614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DIN Pro Regular"/>
        <a:font script="Hebr" typeface="DIN Pro Regula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IN Pro Regular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DIN Pro Regular"/>
        <a:font script="Hebr" typeface="DIN Pro Regula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DIN Pro Regular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19074</TotalTime>
  <Words>630</Words>
  <Application>Microsoft Macintosh PowerPoint</Application>
  <PresentationFormat>Широкоэкранный</PresentationFormat>
  <Paragraphs>66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11</vt:i4>
      </vt:variant>
      <vt:variant>
        <vt:lpstr>Заголовки слайдов</vt:lpstr>
      </vt:variant>
      <vt:variant>
        <vt:i4>10</vt:i4>
      </vt:variant>
    </vt:vector>
  </HeadingPairs>
  <TitlesOfParts>
    <vt:vector size="26" baseType="lpstr">
      <vt:lpstr>DIN Pro Regular</vt:lpstr>
      <vt:lpstr>Times New Roman</vt:lpstr>
      <vt:lpstr>Calibri</vt:lpstr>
      <vt:lpstr>Arial</vt:lpstr>
      <vt:lpstr>Calibri Light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Алексей Болдинов</cp:lastModifiedBy>
  <cp:revision>939</cp:revision>
  <dcterms:created xsi:type="dcterms:W3CDTF">2021-05-24T15:42:45Z</dcterms:created>
  <dcterms:modified xsi:type="dcterms:W3CDTF">2026-05-16T10:17:45Z</dcterms:modified>
</cp:coreProperties>
</file>