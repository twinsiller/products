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308" r:id="rId2"/>
    <p:sldId id="286" r:id="rId3"/>
    <p:sldId id="287" r:id="rId4"/>
    <p:sldId id="288" r:id="rId5"/>
    <p:sldId id="290" r:id="rId6"/>
    <p:sldId id="311" r:id="rId7"/>
    <p:sldId id="312" r:id="rId8"/>
    <p:sldId id="31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A50021"/>
    <a:srgbClr val="C8352A"/>
    <a:srgbClr val="D54516"/>
    <a:srgbClr val="A667A4"/>
    <a:srgbClr val="EB6C15"/>
    <a:srgbClr val="7030A0"/>
    <a:srgbClr val="128618"/>
    <a:srgbClr val="BB3C27"/>
    <a:srgbClr val="C24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ina.korneva\Desktop\&#1055;&#1088;&#1080;&#1083;&#1086;&#1078;&#1077;&#1085;&#1080;&#1077;%20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ina.korneva\Desktop\&#1055;&#1088;&#1080;&#1083;&#1086;&#1078;&#1077;&#1085;&#1080;&#1077;%202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ina.korneva\Desktop\&#1055;&#1088;&#1080;&#1083;&#1086;&#1078;&#1077;&#1085;&#1080;&#1077;%20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1963336706633"/>
          <c:y val="5.0925925925925923E-2"/>
          <c:w val="0.89460377138923219"/>
          <c:h val="0.61708602132220003"/>
        </c:manualLayout>
      </c:layout>
      <c:lineChart>
        <c:grouping val="standard"/>
        <c:varyColors val="0"/>
        <c:ser>
          <c:idx val="0"/>
          <c:order val="0"/>
          <c:tx>
            <c:strRef>
              <c:f>Лист3!$G$16</c:f>
              <c:strCache>
                <c:ptCount val="1"/>
                <c:pt idx="0">
                  <c:v>Глобальный инновационный индекс</c:v>
                </c:pt>
              </c:strCache>
            </c:strRef>
          </c:tx>
          <c:spPr>
            <a:ln w="76200" cap="rnd">
              <a:solidFill>
                <a:schemeClr val="accent1"/>
              </a:solidFill>
              <a:round/>
            </a:ln>
            <a:effectLst/>
          </c:spPr>
          <c:marker>
            <c:spPr>
              <a:ln w="76200"/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Лист3!$H$16:$L$16</c:f>
              <c:numCache>
                <c:formatCode>General</c:formatCode>
                <c:ptCount val="5"/>
                <c:pt idx="0">
                  <c:v>45</c:v>
                </c:pt>
                <c:pt idx="1">
                  <c:v>46</c:v>
                </c:pt>
                <c:pt idx="2">
                  <c:v>46</c:v>
                </c:pt>
                <c:pt idx="3">
                  <c:v>47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2-4EA7-85CD-110F73857095}"/>
            </c:ext>
          </c:extLst>
        </c:ser>
        <c:ser>
          <c:idx val="1"/>
          <c:order val="1"/>
          <c:tx>
            <c:strRef>
              <c:f>Лист3!$G$17</c:f>
              <c:strCache>
                <c:ptCount val="1"/>
                <c:pt idx="0">
                  <c:v>Ресурсы инноваций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Лист3!$H$17:$L$17</c:f>
              <c:numCache>
                <c:formatCode>General</c:formatCode>
                <c:ptCount val="5"/>
                <c:pt idx="0">
                  <c:v>43</c:v>
                </c:pt>
                <c:pt idx="1">
                  <c:v>43</c:v>
                </c:pt>
                <c:pt idx="2">
                  <c:v>41</c:v>
                </c:pt>
                <c:pt idx="3">
                  <c:v>42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02-4EA7-85CD-110F73857095}"/>
            </c:ext>
          </c:extLst>
        </c:ser>
        <c:ser>
          <c:idx val="2"/>
          <c:order val="2"/>
          <c:tx>
            <c:strRef>
              <c:f>Лист3!$G$18</c:f>
              <c:strCache>
                <c:ptCount val="1"/>
                <c:pt idx="0">
                  <c:v>Результаты инноваций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Лист3!$H$18:$L$18</c:f>
              <c:numCache>
                <c:formatCode>General</c:formatCode>
                <c:ptCount val="5"/>
                <c:pt idx="0">
                  <c:v>51</c:v>
                </c:pt>
                <c:pt idx="1">
                  <c:v>56</c:v>
                </c:pt>
                <c:pt idx="2">
                  <c:v>59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02-4EA7-85CD-110F73857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5065088"/>
        <c:axId val="142229504"/>
      </c:lineChart>
      <c:catAx>
        <c:axId val="275065088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ru-RU"/>
                  <a:t>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42229504"/>
        <c:crosses val="autoZero"/>
        <c:auto val="1"/>
        <c:lblAlgn val="ctr"/>
        <c:lblOffset val="100"/>
        <c:noMultiLvlLbl val="0"/>
      </c:catAx>
      <c:valAx>
        <c:axId val="142229504"/>
        <c:scaling>
          <c:orientation val="minMax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Место в рейтинге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2750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3332416042799906"/>
          <c:w val="1"/>
          <c:h val="0.15741666524705034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/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1963336706633"/>
          <c:y val="5.0925925925925923E-2"/>
          <c:w val="0.89460377138923219"/>
          <c:h val="0.61708602132220003"/>
        </c:manualLayout>
      </c:layout>
      <c:lineChart>
        <c:grouping val="standard"/>
        <c:varyColors val="0"/>
        <c:ser>
          <c:idx val="0"/>
          <c:order val="0"/>
          <c:tx>
            <c:strRef>
              <c:f>Лист3!$G$16</c:f>
              <c:strCache>
                <c:ptCount val="1"/>
                <c:pt idx="0">
                  <c:v>Глобальный инновационный индекс</c:v>
                </c:pt>
              </c:strCache>
            </c:strRef>
          </c:tx>
          <c:spPr>
            <a:ln w="76200" cap="rnd">
              <a:solidFill>
                <a:schemeClr val="accent1"/>
              </a:solidFill>
              <a:round/>
            </a:ln>
            <a:effectLst/>
          </c:spPr>
          <c:marker>
            <c:spPr>
              <a:ln w="76200"/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Лист3!$H$16:$L$16</c:f>
              <c:numCache>
                <c:formatCode>General</c:formatCode>
                <c:ptCount val="5"/>
                <c:pt idx="0">
                  <c:v>45</c:v>
                </c:pt>
                <c:pt idx="1">
                  <c:v>46</c:v>
                </c:pt>
                <c:pt idx="2">
                  <c:v>46</c:v>
                </c:pt>
                <c:pt idx="3">
                  <c:v>47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2-4EA7-85CD-110F73857095}"/>
            </c:ext>
          </c:extLst>
        </c:ser>
        <c:ser>
          <c:idx val="1"/>
          <c:order val="1"/>
          <c:tx>
            <c:strRef>
              <c:f>Лист3!$G$17</c:f>
              <c:strCache>
                <c:ptCount val="1"/>
                <c:pt idx="0">
                  <c:v>Ресурсы инноваций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Лист3!$H$17:$L$17</c:f>
              <c:numCache>
                <c:formatCode>General</c:formatCode>
                <c:ptCount val="5"/>
                <c:pt idx="0">
                  <c:v>43</c:v>
                </c:pt>
                <c:pt idx="1">
                  <c:v>43</c:v>
                </c:pt>
                <c:pt idx="2">
                  <c:v>41</c:v>
                </c:pt>
                <c:pt idx="3">
                  <c:v>42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02-4EA7-85CD-110F73857095}"/>
            </c:ext>
          </c:extLst>
        </c:ser>
        <c:ser>
          <c:idx val="2"/>
          <c:order val="2"/>
          <c:tx>
            <c:strRef>
              <c:f>Лист3!$G$18</c:f>
              <c:strCache>
                <c:ptCount val="1"/>
                <c:pt idx="0">
                  <c:v>Результаты инноваций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Лист3!$H$18:$L$18</c:f>
              <c:numCache>
                <c:formatCode>General</c:formatCode>
                <c:ptCount val="5"/>
                <c:pt idx="0">
                  <c:v>51</c:v>
                </c:pt>
                <c:pt idx="1">
                  <c:v>56</c:v>
                </c:pt>
                <c:pt idx="2">
                  <c:v>59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02-4EA7-85CD-110F73857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5065088"/>
        <c:axId val="142229504"/>
      </c:lineChart>
      <c:catAx>
        <c:axId val="275065088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ru-RU"/>
                  <a:t>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42229504"/>
        <c:crosses val="autoZero"/>
        <c:auto val="1"/>
        <c:lblAlgn val="ctr"/>
        <c:lblOffset val="100"/>
        <c:noMultiLvlLbl val="0"/>
      </c:catAx>
      <c:valAx>
        <c:axId val="142229504"/>
        <c:scaling>
          <c:orientation val="minMax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Место в рейтинге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2750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3332416042799906"/>
          <c:w val="1"/>
          <c:h val="0.15741666524705034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/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21963336706633"/>
          <c:y val="5.0925925925925923E-2"/>
          <c:w val="0.89460377138923219"/>
          <c:h val="0.61708602132220003"/>
        </c:manualLayout>
      </c:layout>
      <c:lineChart>
        <c:grouping val="standard"/>
        <c:varyColors val="0"/>
        <c:ser>
          <c:idx val="0"/>
          <c:order val="0"/>
          <c:tx>
            <c:strRef>
              <c:f>Лист3!$G$16</c:f>
              <c:strCache>
                <c:ptCount val="1"/>
                <c:pt idx="0">
                  <c:v>Глобальный инновационный индекс</c:v>
                </c:pt>
              </c:strCache>
            </c:strRef>
          </c:tx>
          <c:spPr>
            <a:ln w="76200" cap="rnd">
              <a:solidFill>
                <a:schemeClr val="accent1"/>
              </a:solidFill>
              <a:round/>
            </a:ln>
            <a:effectLst/>
          </c:spPr>
          <c:marker>
            <c:spPr>
              <a:ln w="76200"/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Лист3!$H$16:$L$16</c:f>
              <c:numCache>
                <c:formatCode>General</c:formatCode>
                <c:ptCount val="5"/>
                <c:pt idx="0">
                  <c:v>45</c:v>
                </c:pt>
                <c:pt idx="1">
                  <c:v>46</c:v>
                </c:pt>
                <c:pt idx="2">
                  <c:v>46</c:v>
                </c:pt>
                <c:pt idx="3">
                  <c:v>47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2-4EA7-85CD-110F73857095}"/>
            </c:ext>
          </c:extLst>
        </c:ser>
        <c:ser>
          <c:idx val="1"/>
          <c:order val="1"/>
          <c:tx>
            <c:strRef>
              <c:f>Лист3!$G$17</c:f>
              <c:strCache>
                <c:ptCount val="1"/>
                <c:pt idx="0">
                  <c:v>Ресурсы инноваций</c:v>
                </c:pt>
              </c:strCache>
            </c:strRef>
          </c:tx>
          <c:spPr>
            <a:ln w="381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Лист3!$H$17:$L$17</c:f>
              <c:numCache>
                <c:formatCode>General</c:formatCode>
                <c:ptCount val="5"/>
                <c:pt idx="0">
                  <c:v>43</c:v>
                </c:pt>
                <c:pt idx="1">
                  <c:v>43</c:v>
                </c:pt>
                <c:pt idx="2">
                  <c:v>41</c:v>
                </c:pt>
                <c:pt idx="3">
                  <c:v>42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02-4EA7-85CD-110F73857095}"/>
            </c:ext>
          </c:extLst>
        </c:ser>
        <c:ser>
          <c:idx val="2"/>
          <c:order val="2"/>
          <c:tx>
            <c:strRef>
              <c:f>Лист3!$G$18</c:f>
              <c:strCache>
                <c:ptCount val="1"/>
                <c:pt idx="0">
                  <c:v>Результаты инноваций</c:v>
                </c:pt>
              </c:strCache>
            </c:strRef>
          </c:tx>
          <c:spPr>
            <a:ln w="381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pPr>
              <a:ln w="38100">
                <a:prstDash val="sysDash"/>
              </a:ln>
            </c:spPr>
          </c:marker>
          <c:cat>
            <c:numRef>
              <c:f>Лист3!$H$15:$L$15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Лист3!$H$18:$L$18</c:f>
              <c:numCache>
                <c:formatCode>General</c:formatCode>
                <c:ptCount val="5"/>
                <c:pt idx="0">
                  <c:v>51</c:v>
                </c:pt>
                <c:pt idx="1">
                  <c:v>56</c:v>
                </c:pt>
                <c:pt idx="2">
                  <c:v>59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02-4EA7-85CD-110F73857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5065088"/>
        <c:axId val="142229504"/>
      </c:lineChart>
      <c:catAx>
        <c:axId val="275065088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ru-RU"/>
                  <a:t>Год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42229504"/>
        <c:crosses val="autoZero"/>
        <c:auto val="1"/>
        <c:lblAlgn val="ctr"/>
        <c:lblOffset val="100"/>
        <c:noMultiLvlLbl val="0"/>
      </c:catAx>
      <c:valAx>
        <c:axId val="142229504"/>
        <c:scaling>
          <c:orientation val="minMax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ru-RU"/>
                  <a:t>Место в рейтинге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2750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3332416042799906"/>
          <c:w val="1"/>
          <c:h val="0.15741666524705034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/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C4BE7-729F-4801-82CE-EFD2DDB90BEC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DF08C-262C-49F9-9D08-C4B0BF3F2E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59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371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12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C729-0733-4E16-8E4F-B419F822ED0C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40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0F91-A45E-4CCE-98AD-8F09BCB7DC9C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06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DC00A-E643-4BC5-9F5A-6D5527C62705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8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60DB-A61C-47F7-AE67-20E126E04860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86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E0E3-50B6-4D45-92A0-64D6746557B0}" type="datetime1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25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F6FE-4BDF-4CCF-BAE3-55CDD458F053}" type="datetime1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12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C456-F0FF-4428-8589-E27781254176}" type="datetime1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2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8B4B-6141-40EB-8E5D-79FF2BF43C63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89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01D2-B515-4348-A88C-804677893D99}" type="datetime1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07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7004-E57E-45AF-AD04-AA125E4373AF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8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6520-0F81-41F8-9469-F3E886E4E5F2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41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FD1B-FAAD-40BF-8F61-5F9F75D5E4A0}" type="datetime1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15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D50311-0739-708B-A71A-994007FB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967CB3-A19D-5FB0-7A0E-F5979DD29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117" y="227136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6E34AF28-265F-7059-EC54-89AB0A03D7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978281-6D7E-647D-E80C-E0953A2B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57FD030-8FB2-9B21-11FD-8C5FDAD1C09D}"/>
              </a:ext>
            </a:extLst>
          </p:cNvPr>
          <p:cNvSpPr>
            <a:spLocks noGrp="1"/>
          </p:cNvSpPr>
          <p:nvPr/>
        </p:nvSpPr>
        <p:spPr>
          <a:xfrm>
            <a:off x="1335301" y="761247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0" lang="ru-RU" sz="20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AD723-5E7C-F124-FFA4-E1B4B9D409FF}"/>
              </a:ext>
            </a:extLst>
          </p:cNvPr>
          <p:cNvSpPr txBox="1"/>
          <p:nvPr/>
        </p:nvSpPr>
        <p:spPr>
          <a:xfrm>
            <a:off x="2232564" y="2139620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3CA03-E30D-D398-01B1-2F6DA2F824EB}"/>
              </a:ext>
            </a:extLst>
          </p:cNvPr>
          <p:cNvSpPr txBox="1"/>
          <p:nvPr/>
        </p:nvSpPr>
        <p:spPr>
          <a:xfrm>
            <a:off x="3048734" y="245459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индустриального программирования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2AA8C-9BF1-3D87-0421-E83F25C6CA77}"/>
              </a:ext>
            </a:extLst>
          </p:cNvPr>
          <p:cNvSpPr txBox="1"/>
          <p:nvPr/>
        </p:nvSpPr>
        <p:spPr>
          <a:xfrm>
            <a:off x="2312682" y="3044084"/>
            <a:ext cx="7566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«Статистический анализ инновационной деятельности в Российской Федерации»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42DA4-3271-33A5-A3B1-D8C2BE117100}"/>
              </a:ext>
            </a:extLst>
          </p:cNvPr>
          <p:cNvSpPr txBox="1"/>
          <p:nvPr/>
        </p:nvSpPr>
        <p:spPr>
          <a:xfrm>
            <a:off x="6010874" y="3636080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Подготовил: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студент группы ЭФМО-01-</a:t>
            </a:r>
            <a:r>
              <a:rPr lang="en-US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4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Иванов И.И.</a:t>
            </a:r>
          </a:p>
          <a:p>
            <a:pPr algn="r"/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д.э.н., профессор кафедры индустриального программирования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Иванов И.И.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12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1793782" y="198735"/>
            <a:ext cx="769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Актуальность исследования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642BD-C68D-05C5-66C1-467E5829499C}"/>
              </a:ext>
            </a:extLst>
          </p:cNvPr>
          <p:cNvSpPr txBox="1"/>
          <p:nvPr/>
        </p:nvSpPr>
        <p:spPr>
          <a:xfrm>
            <a:off x="0" y="2157328"/>
            <a:ext cx="1219200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Инновационная деятельность как государства в целом, так и отдельных его субъектов, является залогом постоянного развития и совершенствования экономики страны, что обеспечит и укрепит конкурентоспособность России в мировом масштабе.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B8E8BBA-5A27-6074-92D3-F06EBD30A03E}"/>
              </a:ext>
            </a:extLst>
          </p:cNvPr>
          <p:cNvSpPr/>
          <p:nvPr/>
        </p:nvSpPr>
        <p:spPr>
          <a:xfrm>
            <a:off x="96967" y="4772447"/>
            <a:ext cx="2760955" cy="1619475"/>
          </a:xfrm>
          <a:prstGeom prst="roundRect">
            <a:avLst/>
          </a:prstGeom>
          <a:solidFill>
            <a:srgbClr val="BB3C2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конкурентоспособности страны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4A0F58E-192F-C978-2426-CE632808229F}"/>
              </a:ext>
            </a:extLst>
          </p:cNvPr>
          <p:cNvSpPr/>
          <p:nvPr/>
        </p:nvSpPr>
        <p:spPr>
          <a:xfrm>
            <a:off x="3122844" y="4772447"/>
            <a:ext cx="2790997" cy="1619475"/>
          </a:xfrm>
          <a:prstGeom prst="roundRect">
            <a:avLst/>
          </a:prstGeom>
          <a:solidFill>
            <a:srgbClr val="BB3C2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и совершенствование экономики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0546F42-7B70-0877-CD7E-260E889D2207}"/>
              </a:ext>
            </a:extLst>
          </p:cNvPr>
          <p:cNvSpPr/>
          <p:nvPr/>
        </p:nvSpPr>
        <p:spPr>
          <a:xfrm>
            <a:off x="6208057" y="4772447"/>
            <a:ext cx="2705123" cy="1619475"/>
          </a:xfrm>
          <a:prstGeom prst="roundRect">
            <a:avLst/>
          </a:prstGeom>
          <a:solidFill>
            <a:srgbClr val="BB3C2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к экономике знаний и инноваций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FC9F7B2-ECFF-4221-1F30-CAAF730BDA39}"/>
              </a:ext>
            </a:extLst>
          </p:cNvPr>
          <p:cNvSpPr/>
          <p:nvPr/>
        </p:nvSpPr>
        <p:spPr>
          <a:xfrm>
            <a:off x="9182367" y="4772447"/>
            <a:ext cx="2912666" cy="1619475"/>
          </a:xfrm>
          <a:prstGeom prst="roundRect">
            <a:avLst/>
          </a:prstGeom>
          <a:solidFill>
            <a:srgbClr val="BB3C2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качества жизни</a:t>
            </a:r>
          </a:p>
        </p:txBody>
      </p:sp>
      <p:sp>
        <p:nvSpPr>
          <p:cNvPr id="16" name="Знак ''плюс'' 15">
            <a:extLst>
              <a:ext uri="{FF2B5EF4-FFF2-40B4-BE49-F238E27FC236}">
                <a16:creationId xmlns:a16="http://schemas.microsoft.com/office/drawing/2014/main" id="{F754D914-C4FD-4E97-C216-311A59E18096}"/>
              </a:ext>
            </a:extLst>
          </p:cNvPr>
          <p:cNvSpPr/>
          <p:nvPr/>
        </p:nvSpPr>
        <p:spPr>
          <a:xfrm>
            <a:off x="2545303" y="5185374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D545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Знак ''плюс'' 16">
            <a:extLst>
              <a:ext uri="{FF2B5EF4-FFF2-40B4-BE49-F238E27FC236}">
                <a16:creationId xmlns:a16="http://schemas.microsoft.com/office/drawing/2014/main" id="{B1874C0A-A929-956E-FB6D-6585CC49DFBA}"/>
              </a:ext>
            </a:extLst>
          </p:cNvPr>
          <p:cNvSpPr/>
          <p:nvPr/>
        </p:nvSpPr>
        <p:spPr>
          <a:xfrm>
            <a:off x="5605487" y="5139236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D545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Знак ''плюс'' 17">
            <a:extLst>
              <a:ext uri="{FF2B5EF4-FFF2-40B4-BE49-F238E27FC236}">
                <a16:creationId xmlns:a16="http://schemas.microsoft.com/office/drawing/2014/main" id="{F729A098-A774-747F-EBFA-C1DE85EC6618}"/>
              </a:ext>
            </a:extLst>
          </p:cNvPr>
          <p:cNvSpPr/>
          <p:nvPr/>
        </p:nvSpPr>
        <p:spPr>
          <a:xfrm>
            <a:off x="8604826" y="5121360"/>
            <a:ext cx="885896" cy="885896"/>
          </a:xfrm>
          <a:prstGeom prst="mathPlus">
            <a:avLst/>
          </a:prstGeom>
          <a:solidFill>
            <a:schemeClr val="bg1"/>
          </a:solidFill>
          <a:ln w="28575">
            <a:solidFill>
              <a:srgbClr val="D545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0C8AA5ED-3AF3-D061-42FF-DBA956A1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13EA827-9C39-0B73-954E-D0D7C4377D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2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0367ED-9F01-0B12-28F0-0D43377E50D5}"/>
              </a:ext>
            </a:extLst>
          </p:cNvPr>
          <p:cNvSpPr txBox="1"/>
          <p:nvPr/>
        </p:nvSpPr>
        <p:spPr>
          <a:xfrm>
            <a:off x="170792" y="2155365"/>
            <a:ext cx="26603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Инновационная деятельность в России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580AD-403B-A28B-1BC8-5B226957E890}"/>
              </a:ext>
            </a:extLst>
          </p:cNvPr>
          <p:cNvSpPr txBox="1"/>
          <p:nvPr/>
        </p:nvSpPr>
        <p:spPr>
          <a:xfrm>
            <a:off x="3313536" y="1779435"/>
            <a:ext cx="2520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показателей инновационной деятельности в России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E46E3-3CDA-2080-586D-69AA3AE73E80}"/>
              </a:ext>
            </a:extLst>
          </p:cNvPr>
          <p:cNvSpPr txBox="1"/>
          <p:nvPr/>
        </p:nvSpPr>
        <p:spPr>
          <a:xfrm>
            <a:off x="1356855" y="4040915"/>
            <a:ext cx="3729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 исследования: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Разработка комплексного метода оценки инновационной деятельности регионов, основанная на уровне научного развития и уровне коммерциализации инноваций субъекта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4754915A-9555-9DAD-6AC6-720688DB513F}"/>
              </a:ext>
            </a:extLst>
          </p:cNvPr>
          <p:cNvSpPr/>
          <p:nvPr/>
        </p:nvSpPr>
        <p:spPr>
          <a:xfrm rot="16200000">
            <a:off x="5185219" y="3903089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6508A563-5FD2-A415-7211-E7CC7B7B72D5}"/>
              </a:ext>
            </a:extLst>
          </p:cNvPr>
          <p:cNvSpPr/>
          <p:nvPr/>
        </p:nvSpPr>
        <p:spPr>
          <a:xfrm rot="16200000">
            <a:off x="5557508" y="4689813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F0636C-411D-9B26-D6C7-998C0095FB93}"/>
              </a:ext>
            </a:extLst>
          </p:cNvPr>
          <p:cNvSpPr/>
          <p:nvPr/>
        </p:nvSpPr>
        <p:spPr>
          <a:xfrm>
            <a:off x="6180363" y="1368044"/>
            <a:ext cx="5914003" cy="5448743"/>
          </a:xfrm>
          <a:prstGeom prst="rect">
            <a:avLst/>
          </a:prstGeom>
          <a:noFill/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Проанализировать существующие методики оценки инновационной деятельности регионов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Сформировать информационную базу статистического исследования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Оценить текущую динамику основных показателей инновационной деятельности в России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Выделить результативный признак инновационной деятельности региона, оценить степень влияния исследуемых факторов на данный признак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Классифицировать регионы методом иерархической кластеризации по исследуемым признакам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Оценить структурные изменения в составе кластеров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Построить инновационный рейтинг регионов по исследуемым признакам, сравнить его с рейтингом инновационного развития субъектов РФ</a:t>
            </a:r>
          </a:p>
        </p:txBody>
      </p:sp>
      <p:pic>
        <p:nvPicPr>
          <p:cNvPr id="11" name="Рисунок 10" descr="Контрольный список со сплошной заливкой">
            <a:extLst>
              <a:ext uri="{FF2B5EF4-FFF2-40B4-BE49-F238E27FC236}">
                <a16:creationId xmlns:a16="http://schemas.microsoft.com/office/drawing/2014/main" id="{20C57834-31C8-2990-4C00-4E80AAF0C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40" y="4421513"/>
            <a:ext cx="914400" cy="914400"/>
          </a:xfrm>
          <a:prstGeom prst="rect">
            <a:avLst/>
          </a:prstGeom>
        </p:spPr>
      </p:pic>
      <p:pic>
        <p:nvPicPr>
          <p:cNvPr id="14" name="Рисунок 13" descr="Мозговой штурм группы контур">
            <a:extLst>
              <a:ext uri="{FF2B5EF4-FFF2-40B4-BE49-F238E27FC236}">
                <a16:creationId xmlns:a16="http://schemas.microsoft.com/office/drawing/2014/main" id="{2690B789-8FDB-CA9C-35C9-1A6ED1B07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0675" y="1619659"/>
            <a:ext cx="914400" cy="914400"/>
          </a:xfrm>
          <a:prstGeom prst="rect">
            <a:avLst/>
          </a:prstGeom>
        </p:spPr>
      </p:pic>
      <p:pic>
        <p:nvPicPr>
          <p:cNvPr id="16" name="Рисунок 15" descr="Человек с идеей контур">
            <a:extLst>
              <a:ext uri="{FF2B5EF4-FFF2-40B4-BE49-F238E27FC236}">
                <a16:creationId xmlns:a16="http://schemas.microsoft.com/office/drawing/2014/main" id="{DBDC358A-A0FF-EB72-DB68-1FB6ACBD1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172" y="1593254"/>
            <a:ext cx="914400" cy="914400"/>
          </a:xfrm>
          <a:prstGeom prst="rect">
            <a:avLst/>
          </a:prstGeom>
        </p:spPr>
      </p:pic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58A11DEF-0A9A-9AA3-A31A-F893ED81C44F}"/>
              </a:ext>
            </a:extLst>
          </p:cNvPr>
          <p:cNvSpPr/>
          <p:nvPr/>
        </p:nvSpPr>
        <p:spPr>
          <a:xfrm rot="16200000">
            <a:off x="5185219" y="5476536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Номер слайда 20">
            <a:extLst>
              <a:ext uri="{FF2B5EF4-FFF2-40B4-BE49-F238E27FC236}">
                <a16:creationId xmlns:a16="http://schemas.microsoft.com/office/drawing/2014/main" id="{33703662-1EA5-8FF1-C528-53222D19C6DE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6E7A50-3B8A-EA5A-CD8E-B1FE882F458C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48657-7791-6035-CB38-25CA240E24CD}"/>
              </a:ext>
            </a:extLst>
          </p:cNvPr>
          <p:cNvSpPr txBox="1"/>
          <p:nvPr/>
        </p:nvSpPr>
        <p:spPr>
          <a:xfrm>
            <a:off x="-1160734" y="69932"/>
            <a:ext cx="105487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Объект, предмет, цель </a:t>
            </a:r>
          </a:p>
          <a:p>
            <a:pPr algn="ctr"/>
            <a:r>
              <a:rPr lang="ru-RU" sz="4000" dirty="0">
                <a:cs typeface="Times New Roman" panose="02020603050405020304" pitchFamily="18" charset="0"/>
              </a:rPr>
              <a:t>и задачи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727BAA-9DA8-25E7-7AEE-DCB33996CFA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8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608816" y="0"/>
            <a:ext cx="1583184" cy="6858000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FFC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648C70-7882-4544-9C67-BFB2751989B6}"/>
              </a:ext>
            </a:extLst>
          </p:cNvPr>
          <p:cNvSpPr txBox="1"/>
          <p:nvPr/>
        </p:nvSpPr>
        <p:spPr>
          <a:xfrm>
            <a:off x="1833544" y="107980"/>
            <a:ext cx="745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  </a:t>
            </a:r>
          </a:p>
        </p:txBody>
      </p:sp>
      <p:sp>
        <p:nvSpPr>
          <p:cNvPr id="38" name="Номер слайда 20">
            <a:extLst>
              <a:ext uri="{FF2B5EF4-FFF2-40B4-BE49-F238E27FC236}">
                <a16:creationId xmlns:a16="http://schemas.microsoft.com/office/drawing/2014/main" id="{7DB8EF2C-11E4-194C-1F59-DF22F6BD33DC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ru-R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09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F2487-B24B-C6DE-477C-31D0C7A7D203}"/>
              </a:ext>
            </a:extLst>
          </p:cNvPr>
          <p:cNvSpPr txBox="1"/>
          <p:nvPr/>
        </p:nvSpPr>
        <p:spPr>
          <a:xfrm>
            <a:off x="1918121" y="1303296"/>
            <a:ext cx="8355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Россия в Глобальном инновационном индексе – 45 место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295652-A2A9-4C80-527B-EFAB71C731C4}"/>
              </a:ext>
            </a:extLst>
          </p:cNvPr>
          <p:cNvSpPr txBox="1"/>
          <p:nvPr/>
        </p:nvSpPr>
        <p:spPr>
          <a:xfrm>
            <a:off x="8142676" y="2113241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группе рассматриваемых в ГИИ-2021 стран с уровнем ВВП на душу населения выше среднего Россия заняла 6-е место (из 34), а среди стран Европы — 29-е.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E2586-FC7D-7DAF-3182-2699C747076F}"/>
              </a:ext>
            </a:extLst>
          </p:cNvPr>
          <p:cNvSpPr txBox="1"/>
          <p:nvPr/>
        </p:nvSpPr>
        <p:spPr>
          <a:xfrm>
            <a:off x="8142676" y="4417358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Соседи России в рейтинге – Вьетнам, Индия и Греция. 1 место в ГИИ принадлежит Швейцарии, 2 – Швеции, 3 – США. Китай находится на 12 месте.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F8F74B4C-384E-9E32-E456-0ED946AF1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372410"/>
              </p:ext>
            </p:extLst>
          </p:nvPr>
        </p:nvGraphicFramePr>
        <p:xfrm>
          <a:off x="267621" y="1993309"/>
          <a:ext cx="7355804" cy="4578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Рисунок 7" descr="Земной шар: Северная и Южная Америка со сплошной заливкой">
            <a:extLst>
              <a:ext uri="{FF2B5EF4-FFF2-40B4-BE49-F238E27FC236}">
                <a16:creationId xmlns:a16="http://schemas.microsoft.com/office/drawing/2014/main" id="{656513A9-A1CD-4DA3-BECA-04FC0A5B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035" y="1310085"/>
            <a:ext cx="448086" cy="448086"/>
          </a:xfrm>
          <a:prstGeom prst="rect">
            <a:avLst/>
          </a:prstGeom>
        </p:spPr>
      </p:pic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E8823C-084B-DCFB-2AB3-A5BA8E9EFF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5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F2487-B24B-C6DE-477C-31D0C7A7D203}"/>
              </a:ext>
            </a:extLst>
          </p:cNvPr>
          <p:cNvSpPr txBox="1"/>
          <p:nvPr/>
        </p:nvSpPr>
        <p:spPr>
          <a:xfrm>
            <a:off x="1918121" y="1303296"/>
            <a:ext cx="8355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Россия в Глобальном инновационном индексе – 45 место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295652-A2A9-4C80-527B-EFAB71C731C4}"/>
              </a:ext>
            </a:extLst>
          </p:cNvPr>
          <p:cNvSpPr txBox="1"/>
          <p:nvPr/>
        </p:nvSpPr>
        <p:spPr>
          <a:xfrm>
            <a:off x="8142676" y="2113241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группе рассматриваемых в ГИИ-2021 стран с уровнем ВВП на душу населения выше среднего Россия заняла 6-е место (из 34), а среди стран Европы — 29-е.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E2586-FC7D-7DAF-3182-2699C747076F}"/>
              </a:ext>
            </a:extLst>
          </p:cNvPr>
          <p:cNvSpPr txBox="1"/>
          <p:nvPr/>
        </p:nvSpPr>
        <p:spPr>
          <a:xfrm>
            <a:off x="8142676" y="4417358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Соседи России в рейтинге – Вьетнам, Индия и Греция. 1 место в ГИИ принадлежит Швейцарии, 2 – Швеции, 3 – США. Китай находится на 12 месте.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F8F74B4C-384E-9E32-E456-0ED946AF124C}"/>
              </a:ext>
            </a:extLst>
          </p:cNvPr>
          <p:cNvGraphicFramePr/>
          <p:nvPr/>
        </p:nvGraphicFramePr>
        <p:xfrm>
          <a:off x="267621" y="1993309"/>
          <a:ext cx="7355804" cy="4578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Рисунок 7" descr="Земной шар: Северная и Южная Америка со сплошной заливкой">
            <a:extLst>
              <a:ext uri="{FF2B5EF4-FFF2-40B4-BE49-F238E27FC236}">
                <a16:creationId xmlns:a16="http://schemas.microsoft.com/office/drawing/2014/main" id="{656513A9-A1CD-4DA3-BECA-04FC0A5B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035" y="1310085"/>
            <a:ext cx="448086" cy="448086"/>
          </a:xfrm>
          <a:prstGeom prst="rect">
            <a:avLst/>
          </a:prstGeom>
        </p:spPr>
      </p:pic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5A30E4-0FDF-DE9F-0BDB-524AD9C112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F2487-B24B-C6DE-477C-31D0C7A7D203}"/>
              </a:ext>
            </a:extLst>
          </p:cNvPr>
          <p:cNvSpPr txBox="1"/>
          <p:nvPr/>
        </p:nvSpPr>
        <p:spPr>
          <a:xfrm>
            <a:off x="1918121" y="1303296"/>
            <a:ext cx="8355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Россия в Глобальном инновационном индексе – 45 место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295652-A2A9-4C80-527B-EFAB71C731C4}"/>
              </a:ext>
            </a:extLst>
          </p:cNvPr>
          <p:cNvSpPr txBox="1"/>
          <p:nvPr/>
        </p:nvSpPr>
        <p:spPr>
          <a:xfrm>
            <a:off x="8142676" y="2113241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группе рассматриваемых в ГИИ-2021 стран с уровнем ВВП на душу населения выше среднего Россия заняла 6-е место (из 34), а среди стран Европы — 29-е.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E2586-FC7D-7DAF-3182-2699C747076F}"/>
              </a:ext>
            </a:extLst>
          </p:cNvPr>
          <p:cNvSpPr txBox="1"/>
          <p:nvPr/>
        </p:nvSpPr>
        <p:spPr>
          <a:xfrm>
            <a:off x="8142676" y="4417358"/>
            <a:ext cx="3679045" cy="193899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Соседи России в рейтинге – Вьетнам, Индия и Греция. 1 место в ГИИ принадлежит Швейцарии, 2 – Швеции, 3 – США. Китай находится на 12 месте.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F8F74B4C-384E-9E32-E456-0ED946AF124C}"/>
              </a:ext>
            </a:extLst>
          </p:cNvPr>
          <p:cNvGraphicFramePr/>
          <p:nvPr/>
        </p:nvGraphicFramePr>
        <p:xfrm>
          <a:off x="267621" y="1993309"/>
          <a:ext cx="7355804" cy="4578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Рисунок 7" descr="Земной шар: Северная и Южная Америка со сплошной заливкой">
            <a:extLst>
              <a:ext uri="{FF2B5EF4-FFF2-40B4-BE49-F238E27FC236}">
                <a16:creationId xmlns:a16="http://schemas.microsoft.com/office/drawing/2014/main" id="{656513A9-A1CD-4DA3-BECA-04FC0A5B2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035" y="1310085"/>
            <a:ext cx="448086" cy="448086"/>
          </a:xfrm>
          <a:prstGeom prst="rect">
            <a:avLst/>
          </a:prstGeom>
        </p:spPr>
      </p:pic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31385-C6F0-63A1-8599-14BA045EBDFB}"/>
              </a:ext>
            </a:extLst>
          </p:cNvPr>
          <p:cNvSpPr/>
          <p:nvPr/>
        </p:nvSpPr>
        <p:spPr>
          <a:xfrm>
            <a:off x="0" y="0"/>
            <a:ext cx="12192000" cy="1289538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16E75E-681F-CD1D-9F90-AF335CAFC4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832" y="-3628"/>
            <a:ext cx="1622060" cy="12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1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4D49D-7605-0DC5-491E-15396759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079A9-F934-C3D4-B364-ADF3A313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72B02F-70A0-7038-0F74-3997A6C9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0314F9B2-2095-D3EF-9CE7-C0A87194B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5CD0AD-4A1E-A9C0-53D1-96653BDF0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99EC85-9AB0-EEE1-3B37-64CF0FC979BA}"/>
              </a:ext>
            </a:extLst>
          </p:cNvPr>
          <p:cNvSpPr txBox="1"/>
          <p:nvPr/>
        </p:nvSpPr>
        <p:spPr>
          <a:xfrm>
            <a:off x="2738899" y="2467278"/>
            <a:ext cx="8408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24673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494</Words>
  <Application>Microsoft Office PowerPoint</Application>
  <PresentationFormat>Широкоэкранный</PresentationFormat>
  <Paragraphs>67</Paragraphs>
  <Slides>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Times New Roman</vt:lpstr>
      <vt:lpstr>Calibri</vt:lpstr>
      <vt:lpstr>Arial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79178</dc:creator>
  <cp:lastModifiedBy>Артур Дворецкий</cp:lastModifiedBy>
  <cp:revision>86</cp:revision>
  <dcterms:created xsi:type="dcterms:W3CDTF">2021-09-09T08:30:02Z</dcterms:created>
  <dcterms:modified xsi:type="dcterms:W3CDTF">2026-03-04T08:48:54Z</dcterms:modified>
</cp:coreProperties>
</file>